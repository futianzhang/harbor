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914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台农芒果采后糖处理实验分析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9923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0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外源糖浸果处理对果实后熟进程的影响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611880"/>
            <a:ext cx="2834640" cy="25603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13632"/>
            <a:ext cx="9966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供试材料：台农芒果（呼吸跃变型），绿熟期（商业成熟度）采收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处理：清水对照（CK）／蔗糖／果糖／葡萄糖 浸果，25 ℃ 货架期贮藏 9 d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指标：果实硬度、可溶性固形物（TSS）、果肉蔗糖含量、果肉切片染色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取样：0、1、3、5、7、9 d，每处理每时点 3 次重复（n = 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71500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采后生理研究团队 · 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汇报要点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一句话结论：三种外源糖浸果处理均加速台农芒果后熟，但不改变后熟的进程模式——终点一致，只是提前到达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3520440" cy="1060704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00200"/>
            <a:ext cx="50292" cy="10607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28216"/>
            <a:ext cx="31912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10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0.9 – 1.7 d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后熟提前量：硬度降至 30 N（可食软化阈值）所需时间比 CK 缩短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00200"/>
            <a:ext cx="3520440" cy="1060704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600200"/>
            <a:ext cx="50292" cy="106070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728216"/>
            <a:ext cx="319125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100" b="1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−29% ~ −39%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第 5 天硬度较 CK 下降幅度（32.7／28.0／28.3 N vs 46.0 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1600200"/>
            <a:ext cx="3575304" cy="1060704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600200"/>
            <a:ext cx="50292" cy="1060704"/>
          </a:xfrm>
          <a:prstGeom prst="rect">
            <a:avLst/>
          </a:prstGeom>
          <a:solidFill>
            <a:srgbClr val="199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728216"/>
            <a:ext cx="324612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100" b="1">
                <a:solidFill>
                  <a:srgbClr val="199E70"/>
                </a:solidFill>
                <a:latin typeface="微软雅黑"/>
                <a:ea typeface="微软雅黑"/>
                <a:cs typeface="微软雅黑"/>
              </a:rPr>
              <a:t>+26% ~ +34%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第 9 天果肉蔗糖较 CK 提高（p&lt;0.001）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907792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1  处理有效：硬度、TSS、蔗糖三项指标的处理主效应与处理×时间交互效应均显著（p&lt;0.01），说明外源糖不仅整体改变了指标水平，更改变了后熟的时间进程。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2  差异集中在后熟中期：3–7 d 为处理间分化窗口，第 5 天差异最大；到 9 d 硬度与 TSS 在各处理间趋同（TSS 9 d：21.97–22.67 °Brix，p=0.409），即处理加快了进程而未改变终点品质。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3  强度排序（以硬度为判据）：果糖 ≈ 葡萄糖 &gt; 蔗糖 &gt; CK。单糖（己糖）的促进作用强于二糖蔗糖，提示效应可能与可直接进入代谢/信号途径的己糖有关。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4  一处值得注意的现象：1–3 d 处理组果肉蔗糖显著低于 CK（3 d：3.97–5.07 vs 7.73 mg/g，p&lt;0.001），5 d 后反超。该“先低后高”的阶段性反转尚无法由现有数据判定原因，是后续验证的重点。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5  切片染色结果与生理数据一致：处理组果肉黄色（类胡萝卜素显色）出现更早、7–9 d 显色更充分。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一、实验设计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四处理 × 六时点 × 三重复的完全随机设计，0 d 为处理前共用基线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64240" cy="4133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2848"/>
                <a:gridCol w="885139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设计要素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供试材料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台农芒果，呼吸跃变型果实；绿熟期（商业成熟度）采收，同批次、同产地、大小与色泽一致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处理设置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CK 清水对照 · 蔗糖处理 · 果糖处理 · 葡萄糖处理（外源糖溶液浸果；具体浓度与浸泡时长见实验记录）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贮藏条件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常温货架期贮藏（约 25 ℃），自然后熟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取样时间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0、1、3、5、7、9 d 共 6 个时点（0 d 为处理前基线，四处理共用同一组数据）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重复设置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每处理每时点 3 次生物学重复（n = 3），共 4 × 6 × 3 = 72 个观测（每指标）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测定指标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果实硬度（质地劣变）② 可溶性固形物 TSS（总体糖积累与风味）③ 果肉蔗糖含量（糖组分）④ 果肉切片染色（色泽/类胡萝卜素显色，定性）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统计分析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两因素方差分析（处理 × 时间）→ 各时点单因素 ANOVA → Tukey HSD 多重比较 + Dunnett（各处理 vs CK）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说明：源数据未记录糖溶液浓度、浸泡时长与贮藏温湿度的具体数值，本报告中相关表述按常规方案描述，正式成文前需以实验记录核定；硬度单位按 N 计、蔗糖含量按 mg/g FW 计（源表未标注单位，需据仪器与方法确认）。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二、数据处理与统计方法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先看整体（两因素），再看时点（单因素+多重比较），最后做稳健性核验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64238" cy="3877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4465"/>
                <a:gridCol w="5273609"/>
                <a:gridCol w="4136164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目的 / 判读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描述统计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各处理×各时点均值 ± 标准差（n = 3）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呈现变化趋势与组内离散程度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两因素方差分析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处理（4 水平）× 时间（6 水平）全因子模型，含交互项；效应量以 η² 表示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判断“糖处理是否有效”“效应是否随时间变化”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各时点单因素 ANOVA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对每个取样日单独检验 4 个处理间差异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定位差异出现的时间窗口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多重比较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Tukey HSD（处理间两两，控制族错误率）＋ Dunnett（各糖处理 vs CK）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Tukey 用于处理间排序；Dunnett 针对“与对照比”这一核心问题，检验力更高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前提检验与稳健性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Levene 方差齐性、Shapiro-Wilk 残差正态性；辅以 Alexander-Govern（异方差稳健）与 Kruskal-Wallis（非参数）复核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n=3 时前提易被违背，用稳健方法确认结论不因方法而改变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关联分析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指标间 Pearson r 与 Spearman ρ（处理均值，n = 24）；并以“糖–硬度”轨迹图呈现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关系呈单调非线性，以 Spearman 为主要判据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669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显著性标记：* p&lt;0.05，** p&lt;0.01，*** p&lt;0.001，ns 不显著。0 d 四处理共用同一组基线数据，不作处理间检验。
全部计算基于源 Excel 原始重复值，未作剔除或平滑；分析在 Python（SciPy 1.18）中完成。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三、数据结果（1）果实硬度：处理组软化更早、更快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1–7 d 各时点处理间差异均显著；第 5 天差距最大，9 d 趋同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pic>
        <p:nvPicPr>
          <p:cNvPr id="9" name="Picture 8" descr="fig_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537960" cy="36439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69164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读图要点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1 d 出现短暂“硬度回升”（CK 128.3 N），三处理组均低于 CK（p&lt;0.01），提示处理组已提前进入软化程序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3 d 起进入快速软化期：CK 73.0 N，果糖组仅 60.3 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· 5 d 差异最大：CK 46.0 N vs 蔗糖 32.7／果糖 28.0／葡萄糖 28.3 N（p&lt;0.001）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9 d 全部降至 16–19 N，处理间不再显著（p=0.073）——终点相同，进程提前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· 硬度以 30 N 为可食软化阈值，线性插值得到达阈时间：
   CK 6.6 d ｜ 蔗糖 5.6 d ｜ 果糖 4.9 d ｜ 葡萄糖 4.9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三、数据结果（2）可溶性固形物：处理组糖积累提前，终值一致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差异窗口为 5–7 d；9 d 各处理均达 22 °Brix 左右，无显著差异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pic>
        <p:nvPicPr>
          <p:cNvPr id="9" name="Picture 8" descr="fig_t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537960" cy="36439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69164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读图要点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0–3 d 处理间无显著差异，TSS 维持在 8.4–9.6 °Brix（后熟启动前的平台期）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· 5 d 明显分化：CK 12.6 °Brix，处理组 15.7–16.5 °Brix（较 CK 高 25%–32%）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7 d 差异达 p=0.004，果糖组最高（18.4 °Brix）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9 d 收敛至 22.0–22.7 °Brix，处理间无差异（p=0.409）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· 结论：外源糖没有提高最终可食品质的糖度上限，而是让糖积累提前 1–2 d 完成——这对“提前上市 / 缩短催熟期”有实践意义，但也意味着货架期缩短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三、数据结果（3）果肉蔗糖：全程差异显著，且存在“先低后高”的反转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1–3 d 处理组低于 CK；5 d 起显著高于 CK，9 d 高出 26%–34%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pic>
        <p:nvPicPr>
          <p:cNvPr id="9" name="Picture 8" descr="fig_s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537960" cy="36439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2360" y="1645920"/>
            <a:ext cx="420624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读图要点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· 阶段 I（1–3 d）反转：3 d CK 7.73 mg/g，处理组仅 3.97–5.07 mg/g（p&lt;0.001）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阶段 II（5 d）反超：CK 12.8，果糖组已达 30.7 mg/g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阶段 III（7–9 d）稳定高于 CK：9 d CK 79.3 vs 99.6–106.0 mg/g（p&lt;0.001）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蔗糖的处理×时间交互效应在三项指标中最强（F=15.4，p&lt;0.001），说明糖代谢是响应外源糖最敏感的环节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· 对反转的解读需谨慎：可能来自早期糖代谢/呼吸消耗增强、蔗糖合成酶系（SPS/SS/转化酶）活性变化或渗透胁迫，现有数据不足以区分，已列入后续验证。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三、数据结果（4）果肉切片染色：处理组显色更早、更充分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定性证据，与硬度、TSS、蔗糖的时间进程相互印证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pic>
        <p:nvPicPr>
          <p:cNvPr id="9" name="Picture 8" descr="台农芒果果实切片染色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6537960" cy="41670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06440"/>
            <a:ext cx="6537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CK 清水对照 · SUC 蔗糖 · FRU 果糖 · GLU 葡萄糖；每格为对应处理与时点的果肉纵切面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40233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观察要点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0–3 d：四处理果肉均呈灰绿/灰白色，未见明显黄化，与此阶段 TSS 无差异一致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· 5–7 d：三个糖处理组先后出现明显黄色区域（果糖、葡萄糖 5 d 已可见），CK 同期仍以暗色为主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9 d：处理组（尤以蔗糖、葡萄糖）整个切面呈饱满亮黄色，CK 黄化范围与强度均较弱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· 果肉由暗色转为亮黄，对应后熟过程中淀粉降解与类胡萝卜素积累；显色时序与“处理组后熟提前 1–2 d”的定量结果一致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· 局限：该图为定性观察，无重复与定量分析，仅作为佐证。源文件未记录染色方法——若为 I₂-KI 淀粉染色，暗色区应解读为“淀粉未降解”、亮黄区为“淀粉已降解”，结论方向不变但表述需据实修改；建议补做类胡萝卜素含量与色差（L*a*b*）测定。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三、数据结果（5）第 5 天横向比较：分化最明显的时点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同一时点上三项指标一致指向“糖处理组后熟更快”，且己糖强于蔗糖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pic>
        <p:nvPicPr>
          <p:cNvPr id="9" name="Picture 8" descr="fig_day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664208"/>
            <a:ext cx="9857232" cy="36567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76672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硬度是区分最清晰的指标：CK 46.0 N ＞ 蔗糖 32.7 N ＞ 果糖 28.0 N ≈ 葡萄糖 28.3 N，被 Tukey 分为 a／b／c 三个水平。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TSS 与蔗糖方向一致但离散更大：葡萄糖组蔗糖 SD 达 9.0 mg/g，提示该时点果实后熟进度不齐，需增加重复数确认。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四、统计检验（1）两因素方差分析：处理有效，且效应随时间变化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三项指标的“处理”主效应与“处理×时间”交互效应全部显著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5989316" cy="291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5588"/>
                <a:gridCol w="938624"/>
                <a:gridCol w="759839"/>
                <a:gridCol w="715142"/>
                <a:gridCol w="759839"/>
                <a:gridCol w="715142"/>
                <a:gridCol w="715142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效应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df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η²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判读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果实硬度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3, 48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60.2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0.50%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5, 48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7172.2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99.04%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处理×时间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15, 48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7.9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0.33%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可溶性固形物 TSS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3, 48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0.47%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5, 48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695.8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96.74%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处理×时间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15, 48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1.45%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果肉蔗糖含量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3, 48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38.9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0.84%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5, 48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2686.9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97.14%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处理×时间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15, 48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1.67%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显著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fig_et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83080"/>
            <a:ext cx="4892040" cy="15492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3520440"/>
            <a:ext cx="48920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5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怎么读这两组数字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时间效应解释了 96.7%–99.0% 的总变异：后熟本身是主导变化，糖处理是在此基础上的调制，这是采后生理数据的常见结构。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处理主效应虽然 η² 仅 0.5%–0.8%，但 F 值高、p 值小（硬度 F=60.2，p&lt;0.001），在时间变异被扣除后仍稳定可检出。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· 交互效应显著（TSS 1.45%、蔗糖 1.67%）是本实验的关键：糖处理的作用大小依时间而变，集中在后熟中期，因此必须逐时点比较，不能只看总体均值。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74920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误差自由度 48；η² = 效应平方和 / 总平方和。
右图为处理与交互效应的放大显示（时间效应过大，同图不可辨）。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四、统计检验（2）各时点比较与稳健性核验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差异窗口集中在 3–7 d；结论在参数与非参数方法下基本一致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91056"/>
          <a:ext cx="11064237" cy="3067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1615"/>
                <a:gridCol w="2436767"/>
                <a:gridCol w="1317171"/>
                <a:gridCol w="1317171"/>
                <a:gridCol w="1317171"/>
                <a:gridCol w="1317171"/>
                <a:gridCol w="1317171"/>
              </a:tblGrid>
              <a:tr h="2697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检验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d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d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d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d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d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果实硬度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单因素 ANOVA p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0.006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0.073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Tukey 分组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abbb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aabb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abcc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aaba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Dunnett vs CK 显著数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稳健性（AG／KW p）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0.010／0.021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0.016／0.029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0.001／0.024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0.041／0.029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0.133／0.101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可溶性固形物 TSS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单因素 ANOVA p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0.855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0.047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0.409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Tukey 分组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Dunnett vs CK 显著数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稳健性（AG／KW p）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0.350／0.066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0.671／0.694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0.006／0.092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0.049／0.024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0.206／0.236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果肉蔗糖含量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单因素 ANOVA p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0.002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0.009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Tukey 分组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abba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abbb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baaa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Dunnett vs CK 显著数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3/3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稳健性（AG／KW p）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0.003／0.037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0.008／0.045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0.003／0.044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0.004／0.022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0.007／0.032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956048"/>
            <a:ext cx="110642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结论与限度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硬度与蔗糖：ANOVA、Alexander-Govern（AG，异方差稳健）与 Kruskal-Wallis（KW，非参数）结论一致，1–7 d 差异稳定成立（9 d 硬度三法均不显著）。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· TSS 需保留判断：5 d 时 ANOVA p=0.047、AG p=0.006 显著，但 KW p=0.092 未显著，宜表述为“有差异倾向”；7 d 三法一致显著，才是确证时点。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前提检验（1–9 d 共 15 组）：Levene 有 5 组、Shapiro-Wilk 有 0 组 p&lt;0.05；n=3 下两项检验本身不敏感，故以上述稳健方法交叉验证，后续建议 n≥5。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0001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Tukey 分组按 CK／蔗糖／果糖／葡萄糖 顺序给出字母，字母不同表示 p&lt;0.05；0 d 为共用基线，不参与检验。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四、统计检验（3）后熟提前量与指标间关联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处理并未改变“糖积累—质地劣变”的耦合关系，只是让果实更快沿同一轨迹推进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pic>
        <p:nvPicPr>
          <p:cNvPr id="9" name="Picture 8" descr="fig_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903720" cy="319604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89520" y="1783080"/>
          <a:ext cx="4069080" cy="1545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1737360"/>
                <a:gridCol w="132588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降至 30 N 所需时间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 CK 提前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CK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6.57 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蔗糖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5.64 d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0.93 d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果糖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4.88 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1.70 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葡萄糖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4.91 d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EB68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 d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89520" y="3429000"/>
          <a:ext cx="406908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280160"/>
                <a:gridCol w="123444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指标对（n = 24）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Spearman ρ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蔗糖 ~ 硬度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-0.954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TSS ~ 硬度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-0.934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蔗糖 ~ TSS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0.911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&lt;0.001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589520" y="4773168"/>
            <a:ext cx="4069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三项指标高度单调相关（|ρ|≥0.91），糖积累与软化在时间上同步。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· 左图四条轨迹几乎重合：同一硬度对应同一糖含量，处理只改变“到达该点的时间”。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· 关系非线性（前陡后平），故以 Spearman ρ 为主要判据。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五、机制分析：外源糖如何加速后熟（工作假说）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现有数据可支持“进程提前而非终点改变”，各环节的分子证据仍需本实验室补充验证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2679192" cy="148132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83080"/>
            <a:ext cx="2679192" cy="5029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4A3AA7"/>
                </a:solidFill>
                <a:latin typeface="微软雅黑"/>
                <a:ea typeface="微软雅黑"/>
                <a:cs typeface="微软雅黑"/>
              </a:rPr>
              <a:t>外源糖浸果
（蔗糖／果糖／葡萄糖）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果肉糖库快速升高
＋轻度渗透信号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783080"/>
            <a:ext cx="2679192" cy="148132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783080"/>
            <a:ext cx="2679192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9659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2A78D6"/>
                </a:solidFill>
                <a:latin typeface="微软雅黑"/>
                <a:ea typeface="微软雅黑"/>
                <a:cs typeface="微软雅黑"/>
              </a:rPr>
              <a:t>糖信号感知
HXK1 · SnRK1 · TOR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己糖可直接被感知
蔗糖需先水解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783080"/>
            <a:ext cx="2679192" cy="148132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783080"/>
            <a:ext cx="2679192" cy="502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9659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后熟激素网络
乙烯（ACS/ACO）· ABA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呼吸跃变提前启动
自催化乙烯合成加速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783080"/>
            <a:ext cx="2679192" cy="148132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783080"/>
            <a:ext cx="2679192" cy="50292"/>
          </a:xfrm>
          <a:prstGeom prst="rect">
            <a:avLst/>
          </a:prstGeom>
          <a:solidFill>
            <a:srgbClr val="199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9659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199E70"/>
                </a:solidFill>
                <a:latin typeface="微软雅黑"/>
                <a:ea typeface="微软雅黑"/>
                <a:cs typeface="微软雅黑"/>
              </a:rPr>
              <a:t>后熟表型执行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淀粉降解 → 蔗糖/己糖
细胞壁水解 → 软化
类胡萝卜素 → 转黄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34640" y="2432304"/>
            <a:ext cx="420624" cy="182880"/>
          </a:xfrm>
          <a:prstGeom prst="rightArrow">
            <a:avLst/>
          </a:prstGeom>
          <a:solidFill>
            <a:srgbClr val="B8B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632704" y="2432304"/>
            <a:ext cx="420624" cy="182880"/>
          </a:xfrm>
          <a:prstGeom prst="rightArrow">
            <a:avLst/>
          </a:prstGeom>
          <a:solidFill>
            <a:srgbClr val="B8B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8430768" y="2432304"/>
            <a:ext cx="420624" cy="182880"/>
          </a:xfrm>
          <a:prstGeom prst="rightArrow">
            <a:avLst/>
          </a:prstGeom>
          <a:solidFill>
            <a:srgbClr val="B8B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520440"/>
            <a:ext cx="110642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本实验数据对该假说的支持点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① 支持“加速”而非“改性”：9 d 时硬度（p=0.073）与 TSS（p=0.409）在处理间已无差异，且“糖–硬度”轨迹四组重合——处理改变的是进程速率，不是后熟程序本身。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② 支持“糖信号”而非“单纯底物输入”：若外源糖仅作为底物渗入果肉，蔗糖处理应最直接提升果肉蔗糖，但实际以果糖／葡萄糖处理的促进作用更强，且 1–3 d 处理组蔗糖反而低于 CK——底物输入难以解释，更像是己糖触发的代谢与信号响应。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3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③ 支持“上游启动提前”：硬度在 1 d 即出现处理间差异（p&lt;0.001），早于 TSS（5–7 d）与显色（5 d 后），时序上符合“信号/激素 → 细胞壁水解 → 糖积累与转色”的级联顺序。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④ 尚不能确定的环节（本实验未测）：乙烯释放速率与呼吸强度、ACS/ACO 表达、ABA 含量、淀粉与淀粉酶活性、SPS/SS/转化酶活性、细胞壁水解酶（PG／PME／β-Gal／EXP）活性。在补齐这些指标前，上述箭头均应视为假说而非结论。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六、文献证据：糖不只是产物，也是后熟的调控信号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以下文献为机制假说的依据来源，与本实验结果的对应关系逐条列出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91056"/>
          <a:ext cx="11064239" cy="4005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206239"/>
                <a:gridCol w="411480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核心结论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与本实验的关系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Rolland, Baena-González &amp; Sheen (2006) Annu. Rev. Plant Biol. 57:675–709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植物存在 HXK1、SnRK1、TOR 等糖感知与信号途径，葡萄糖/蔗糖可作为信号分子调控发育与代谢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为“外源糖经糖信号途径影响后熟”提供总体框架；也解释己糖（果糖/葡萄糖）效应强于蔗糖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Jia et al. (2013) New Phytologist 198:453–465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蔗糖可作为信号促进草莓果实 ABA 积累并加速成熟，糖–ABA 互作参与成熟调控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支持“外源糖 → 激素网络 → 后熟提前”这一路径（非呼吸跃变型果实中的直接证据）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Yanagisawa, Yoo &amp; Sheen (2003) Nature 425:521–525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葡萄糖通过影响 EIN3 蛋白稳定性与乙烯信号互作（葡萄糖促进 EIN3 降解）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提示糖–乙烯互作方向依组织与浓度而异，是本实验必须实测乙烯释放的原因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Brummell &amp; Harpster (2001) Plant Mol. Biol. 47:311–340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果实软化由 PG、PME、β-半乳糖苷酶、扩张蛋白等细胞壁修饰酶协同驱动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对应本实验硬度提前下降的可能执行环节，指明后续酶活/表达测定的目标基因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Osorio, Scossa &amp; Fernie (2013) Front. Plant Sci. 4:198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综述果实成熟的分子调控，强调糖代谢与激素、转录因子网络的耦合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为“糖积累与软化同步（|ρ|≥0.91）”提供解释框架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芒果后熟生理相关研究（淀粉降解 → 蔗糖积累、类胡萝卜素合成与转色）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芒果为呼吸跃变型果实，后熟期淀粉快速降解为蔗糖与己糖，伴随细胞壁降解与类胡萝卜素积累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对应本实验蔗糖 9 d 内升高约 25–33 倍、切片由暗转黄的观察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提示：上表文献信息依据既有文献知识整理，正式引用前请逐条核对原文与 DOI；末行为综述性表述，需补充具体的台农（Tainong）品种文献。目前尚未检索到与本实验完全对应的“外源糖浸果处理芒果”的直接文献，若确认为新方案，应在方法学上补充浓度梯度与渗入量验证。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七、结论与下一步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结论按证据强度分层陈述；待验证事项已转化为具体实验设计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4960" cy="422452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4892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结论（按证据强度）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199E70"/>
                </a:solidFill>
                <a:latin typeface="微软雅黑"/>
                <a:ea typeface="微软雅黑"/>
                <a:cs typeface="微软雅黑"/>
              </a:rPr>
              <a:t>可以确认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1. 蔗糖、果糖、葡萄糖三种外源糖浸果处理均显著加速台农芒果后熟：软化提前 0.9–1.7 d，5–7 d 的 TSS 与蔗糖含量显著高于 CK。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2. 处理效应随时间变化（交互显著），差异窗口为 3–7 d；9 d 时硬度与 TSS 回到同一水平，最终糖度未被提高。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3. 三项指标高度单调相关，处理未改变糖与质地的耦合关系。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倾向性结论（需重复验证）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15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4. 以硬度为判据，强度排序为果糖 ≈ 葡萄糖 &gt; 蔗糖，己糖效应更强（9 d 蔗糖含量则以蔗糖处理最高）。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5. 处理组蔗糖含量在 1–3 d 低于 CK 后反超，存在阶段性反转。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300" b="1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尚不能得出的结论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6. 本实验未测乙烯、呼吸、淀粉与相关酶活，无法判定加速后熟的直接机制；亦无法回答外源糖是作为底物、渗透因子还是信号分子起作用。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1572768"/>
            <a:ext cx="539496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D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892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下一步计划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① 补齐跃变型果实的核心指标：逐日测定乙烯释放速率与呼吸强度，确认“呼吸跃变是否提前”——这是“加速后熟”最直接的判据。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② 解析蔗糖反转：加测淀粉含量、α/β-淀粉酶、SPS、SS、酸性/中性转化酶活性，并在 0–3 d 加密取样（每日 1 次）。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③ 追踪外源糖去向：用 ¹³C 或 ¹⁴C 标记糖，或测定果皮/果肉糖梯度，区分“渗入的底物”与“内源合成的糖”。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④ 完善设计：设置糖浓度梯度与等渗对照（如甘露醇/山梨醇），以分离渗透效应与糖信号效应；重复数提高至 n≥5，并做独立批次重复。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⑤ 定量表型：以色差仪（L*a*b*）与类胡萝卜素含量替代/补充定性染色；同步记录失重率、腐烂率以评估货架期损失。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⑥ 分子验证：检测 ACS/ACO、NCED、PG/PME/β-Gal/EXP 与糖信号（HXK1、SnRK1）相关基因表达。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02336"/>
            <a:ext cx="68580" cy="3840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附录：全部实测数据（均值 ± 标准差，n = 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B6834"/>
                </a:solidFill>
                <a:latin typeface="微软雅黑"/>
                <a:ea typeface="微软雅黑"/>
                <a:cs typeface="微软雅黑"/>
              </a:rPr>
              <a:t>数据直接取自源 Excel 原始重复值，未作任何剔除或修正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64240" cy="10972"/>
          </a:xfrm>
          <a:prstGeom prst="rect">
            <a:avLst/>
          </a:prstGeom>
          <a:solidFill>
            <a:srgbClr val="DE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台农芒果采后糖处理实验分析 · 课题组组会汇报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8251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45920"/>
          <a:ext cx="11064237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5317"/>
                <a:gridCol w="857410"/>
                <a:gridCol w="857410"/>
                <a:gridCol w="857410"/>
                <a:gridCol w="857410"/>
                <a:gridCol w="857410"/>
                <a:gridCol w="857410"/>
                <a:gridCol w="857410"/>
                <a:gridCol w="857410"/>
                <a:gridCol w="857410"/>
                <a:gridCol w="857410"/>
                <a:gridCol w="857410"/>
                <a:gridCol w="85741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果实硬度 / N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TSS / °Brix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gridSpan="4"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果肉蔗糖 / (mg/g FW)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CK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蔗糖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葡萄糖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CK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蔗糖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葡萄糖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CK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蔗糖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果糖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葡萄糖</a:t>
                      </a:r>
                    </a:p>
                  </a:txBody>
                  <a:tcPr marL="54864" marR="54864" marT="13716" marB="13716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d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124.0±2.0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124.0±2.0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124.0±2.0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124.0±2.0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9.2±0.0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9.2±0.0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9.2±0.0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9.2±0.0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3.2±1.2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3.2±1.2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3.2±1.2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3.2±1.2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128.3±3.5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122.0±1.0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118.3±1.2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118.7±0.6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8.8±0.3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8.4±0.2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8.6±0.1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8.6±0.1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4.6±0.2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3.6±0.3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3.7±0.1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4.5±0.3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d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73.0±1.7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66.3±1.5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60.3±5.7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64.0±1.0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9.2±1.2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9.6±0.1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9.5±0.3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9.4±0.3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7.7±0.4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4.0±1.0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5.1±0.2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4.8±0.1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46.0±2.0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32.7±1.5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28.0±1.0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28.3±1.5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12.6±0.3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15.7±1.0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16.2±1.4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16.5±2.6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12.8±2.1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19.9±0.7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30.7±1.7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24.8±9.0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d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25.7±2.1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24.3±0.6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19.3±1.5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23.0±1.0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16.5±0.5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17.8±0.3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18.4±0.7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17.4±0.2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41.3±2.1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54.7±0.7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51.9±1.2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54.5±0.6</a:t>
                      </a:r>
                    </a:p>
                  </a:txBody>
                  <a:tcPr marL="54864" marR="54864" marT="13716" marB="13716" anchor="ctr">
                    <a:solidFill>
                      <a:srgbClr val="F7F7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d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19.0±1.0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16.0±2.0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16.0±1.0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17.0±1.0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22.4±0.3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22.3±0.7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22.0±0.1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22.7±0.5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79.3±3.8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106.0±3.6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99.6±2.4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A1A1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100.2±3.6</a:t>
                      </a:r>
                    </a:p>
                  </a:txBody>
                  <a:tcPr marL="54864" marR="54864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3159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7A7974"/>
                </a:solidFill>
                <a:latin typeface="微软雅黑"/>
                <a:ea typeface="微软雅黑"/>
                <a:cs typeface="微软雅黑"/>
              </a:rPr>
              <a:t>注：0 d 为处理前共用基线，四处理数值相同（蔗糖 0 d 的三个重复为 2.00／3.34／4.32 mg/g，组内变异较大，源于同批果实个体差异）。
硬度与蔗糖含量的单位按常规方法标注，源表未记录单位与测定方法，请以实验记录为准。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28032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数据可靠性自查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1A1A19"/>
                </a:solidFill>
                <a:latin typeface="微软雅黑"/>
                <a:ea typeface="微软雅黑"/>
                <a:cs typeface="微软雅黑"/>
              </a:rPr>
              <a:t>· 全部 3 项指标 × 4 处理 × 6 时点 × 3 重复共 216 个数据点均完整，无缺失、无异常离群值（各组 SD 见上表）。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组内变异总体偏小（硬度 SD 多在 1–3 N），但 5 d 葡萄糖组蔗糖（SD 9.0）与 TSS（SD 2.6）离散明显偏大，对应该时点果实后熟进度不齐，是 5 d TSS 检验结果偏弱的原因之一。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0 d 四处理共用同一组数据，意味着基线一致性由取样保证而非实测验证；建议后续实验各处理独立测定 0 d 基线。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