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617720"/>
            <a:ext cx="457200" cy="109728"/>
          </a:xfrm>
          <a:prstGeom prst="rect">
            <a:avLst/>
          </a:prstGeom>
          <a:solidFill>
            <a:srgbClr val="5E8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89888" y="4617720"/>
            <a:ext cx="457200" cy="109728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56816" y="4617720"/>
            <a:ext cx="457200" cy="109728"/>
          </a:xfrm>
          <a:prstGeom prst="rect">
            <a:avLst/>
          </a:prstGeom>
          <a:solidFill>
            <a:srgbClr val="D08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23744" y="4617720"/>
            <a:ext cx="457200" cy="109728"/>
          </a:xfrm>
          <a:prstGeom prst="rect">
            <a:avLst/>
          </a:prstGeom>
          <a:solidFill>
            <a:srgbClr val="A3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台农芒果采后糖处理实验分析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BFCDE0"/>
                </a:solidFill>
                <a:latin typeface="Microsoft YaHei"/>
                <a:ea typeface="Microsoft YaHei"/>
              </a:rPr>
              <a:t>外源糖浸果处理对呼吸跃变型果实后熟进程的影响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FB4CE"/>
                </a:solidFill>
                <a:latin typeface="Microsoft YaHei"/>
                <a:ea typeface="Microsoft YaHei"/>
              </a:rPr>
              <a:t>指标：果实硬度 · 可溶性固形物(TSS) · 蔗糖含量 · 果肉染色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9FB4CE"/>
                </a:solidFill>
                <a:latin typeface="Microsoft YaHei"/>
                <a:ea typeface="Microsoft YaHei"/>
              </a:rPr>
              <a:t>采后生理研究团队 · 组会汇报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7F93B0"/>
                </a:solidFill>
                <a:latin typeface="Microsoft YaHei"/>
                <a:ea typeface="Microsoft YaHei"/>
              </a:rPr>
              <a:t>汇报日期：2026-08-11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BACKGROUND &amp; OBJECTIVE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研究背景与目的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3A59"/>
                </a:solidFill>
                <a:latin typeface="Microsoft YaHei"/>
                <a:ea typeface="Microsoft YaHei"/>
              </a:rPr>
              <a:t>研究背景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台农芒果为呼吸跃变型果实，采后进入以乙烯激增为特征的快速后熟。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糖不仅是果实品质与风味的物质基础，也是重要的信号分子，可能参与后熟调控。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本实验以绿熟期（商业成熟度）果实为材料，考察外源糖浸果处理对后熟进程的影响。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3A59"/>
                </a:solidFill>
                <a:latin typeface="Microsoft YaHei"/>
                <a:ea typeface="Microsoft YaHei"/>
              </a:rPr>
              <a:t>科学问题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外源糖处理能否改变果实软化、糖积累与色泽转变的速率？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不同糖种（蔗糖/果糖/葡萄糖）的效应是否存在差异？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463040"/>
            <a:ext cx="4892040" cy="448056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645920"/>
            <a:ext cx="443484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4C9A8E"/>
                </a:solidFill>
                <a:latin typeface="Microsoft YaHei"/>
                <a:ea typeface="Microsoft YaHei"/>
              </a:rPr>
              <a:t>研究假设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外源糖作为信号/底物，加速台农芒果的采后后熟——表现为更快软化、TSS 提前上升、果肉黄化增强及蔗糖后期积累增多。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4C9A8E"/>
                </a:solidFill>
                <a:latin typeface="Microsoft YaHei"/>
                <a:ea typeface="Microsoft YaHei"/>
              </a:rPr>
              <a:t>汇报目的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面向不熟悉原始数据的团队成员，系统呈现实验设计、关键数据、统计检验结论，并结合文献进行机制解读。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EXPERIMENTAL DESIGN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实验设计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97480" cy="1325880"/>
          </a:xfrm>
          <a:prstGeom prst="rect">
            <a:avLst/>
          </a:prstGeom>
          <a:solidFill>
            <a:srgbClr val="5E8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CK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对照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EF2F6"/>
                </a:solidFill>
                <a:latin typeface="Microsoft YaHei"/>
                <a:ea typeface="Microsoft YaHei"/>
              </a:rPr>
              <a:t>去离子水浸果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417320"/>
            <a:ext cx="2697480" cy="1325880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81328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SUC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蔗糖处理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EF2F6"/>
                </a:solidFill>
                <a:latin typeface="Microsoft YaHei"/>
                <a:ea typeface="Microsoft YaHei"/>
              </a:rPr>
              <a:t>蔗糖溶液浸果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417320"/>
            <a:ext cx="2697480" cy="1325880"/>
          </a:xfrm>
          <a:prstGeom prst="rect">
            <a:avLst/>
          </a:prstGeom>
          <a:solidFill>
            <a:srgbClr val="D08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481328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FRU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果糖处理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EF2F6"/>
                </a:solidFill>
                <a:latin typeface="Microsoft YaHei"/>
                <a:ea typeface="Microsoft YaHei"/>
              </a:rPr>
              <a:t>果糖溶液浸果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7696" y="1417320"/>
            <a:ext cx="2697480" cy="1325880"/>
          </a:xfrm>
          <a:prstGeom prst="rect">
            <a:avLst/>
          </a:prstGeom>
          <a:solidFill>
            <a:srgbClr val="A3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34856" y="1481328"/>
            <a:ext cx="24231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GLU</a:t>
            </a:r>
          </a:p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葡萄糖处理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EF2F6"/>
                </a:solidFill>
                <a:latin typeface="Microsoft YaHei"/>
                <a:ea typeface="Microsoft YaHei"/>
              </a:rPr>
              <a:t>葡萄糖溶液浸果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566928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3A59"/>
                </a:solidFill>
                <a:latin typeface="Microsoft YaHei"/>
                <a:ea typeface="Microsoft YaHei"/>
              </a:rPr>
              <a:t>材料与处理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品种：台农芒果（呼吸跃变型）；采收期：绿熟期（商业成熟度）。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处理：对照(CK)与蔗糖/果糖/葡萄糖三种外源糖浸果处理。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生物学重复：每处理每时间点 3 次重复（n = 3）。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3A59"/>
                </a:solidFill>
                <a:latin typeface="Microsoft YaHei"/>
                <a:ea typeface="Microsoft YaHei"/>
              </a:rPr>
              <a:t>采样时间点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处理后 0、1、3、5、7、9 天（共 6 个时间点）。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39496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3A59"/>
                </a:solidFill>
                <a:latin typeface="Microsoft YaHei"/>
                <a:ea typeface="Microsoft YaHei"/>
              </a:rPr>
              <a:t>测定指标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果实硬度（N）——软化进程。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可溶性固形物 TSS（°Brix）——总可溶性糖/后熟度。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蔗糖含量（mg·g⁻¹ FW）——糖代谢终端积累。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果肉切片染色（照片）——色泽/黄化转变。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E3A59"/>
                </a:solidFill>
                <a:latin typeface="Microsoft YaHei"/>
                <a:ea typeface="Microsoft YaHei"/>
              </a:rPr>
              <a:t>统计方法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各时间点单因素方差分析(one-way ANOVA)；Tukey HSD 多重比较（α=0.05），并标注各糖处理相对 CK 的差异。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RESULTS OVERVIEW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数据结果 · 关键发现总览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8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109728"/>
          </a:xfrm>
          <a:prstGeom prst="rect">
            <a:avLst/>
          </a:prstGeom>
          <a:solidFill>
            <a:srgbClr val="D08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72768"/>
            <a:ext cx="2404872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08770"/>
                </a:solidFill>
                <a:latin typeface="Microsoft YaHei"/>
                <a:ea typeface="Microsoft YaHei"/>
              </a:rPr>
              <a:t>软化更快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5 d 时糖处理硬度 28–33 N，显著低于 CK 46 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3716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9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371600"/>
            <a:ext cx="2697480" cy="109728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572768"/>
            <a:ext cx="2404872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C9A8E"/>
                </a:solidFill>
                <a:latin typeface="Microsoft YaHei"/>
                <a:ea typeface="Microsoft YaHei"/>
              </a:rPr>
              <a:t>TSS 提前上升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5 d 时糖处理 TSS 15.7–16.5，高于 CK 12.6 °Brix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3716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5E8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371600"/>
            <a:ext cx="2697480" cy="109728"/>
          </a:xfrm>
          <a:prstGeom prst="rect">
            <a:avLst/>
          </a:prstGeom>
          <a:solidFill>
            <a:srgbClr val="5E8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72768"/>
            <a:ext cx="2404872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5E81AC"/>
                </a:solidFill>
                <a:latin typeface="Microsoft YaHei"/>
                <a:ea typeface="Microsoft YaHei"/>
              </a:rPr>
              <a:t>蔗糖后期积累更多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9 d 时糖处理 100–106，高于 CK 79 mg·g⁻¹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97696" y="13716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3B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97696" y="1371600"/>
            <a:ext cx="2697480" cy="109728"/>
          </a:xfrm>
          <a:prstGeom prst="rect">
            <a:avLst/>
          </a:prstGeom>
          <a:solidFill>
            <a:srgbClr val="A3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572768"/>
            <a:ext cx="2404872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A3BE8C"/>
                </a:solidFill>
                <a:latin typeface="Microsoft YaHei"/>
                <a:ea typeface="Microsoft YaHei"/>
              </a:rPr>
              <a:t>果肉黄化增强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9 d 糖处理切片黄色更深（类胡萝卜素积累）</a:t>
            </a:r>
          </a:p>
        </p:txBody>
      </p:sp>
      <p:pic>
        <p:nvPicPr>
          <p:cNvPr id="18" name="Picture 17" descr="fig_firm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29000"/>
            <a:ext cx="3703320" cy="2497655"/>
          </a:xfrm>
          <a:prstGeom prst="rect">
            <a:avLst/>
          </a:prstGeom>
        </p:spPr>
      </p:pic>
      <p:pic>
        <p:nvPicPr>
          <p:cNvPr id="19" name="Picture 18" descr="fig_t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3429000"/>
            <a:ext cx="3703320" cy="2497655"/>
          </a:xfrm>
          <a:prstGeom prst="rect">
            <a:avLst/>
          </a:prstGeom>
        </p:spPr>
      </p:pic>
      <p:pic>
        <p:nvPicPr>
          <p:cNvPr id="20" name="Picture 19" descr="fig_sucr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3429000"/>
            <a:ext cx="3703320" cy="24995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555B66"/>
                </a:solidFill>
                <a:latin typeface="Microsoft YaHei"/>
                <a:ea typeface="Microsoft YaHei"/>
              </a:rPr>
              <a:t>总体趋势：三种外源糖均加速台农芒果后熟，果糖/葡萄糖对软化的促进略强于蔗糖；效应在 5–7 d 最明显，9 d 各组趋于一致（果实均达完熟）。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RESULTS — FIRMNESS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数据结果 · 果实硬度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04</a:t>
            </a:r>
          </a:p>
        </p:txBody>
      </p:sp>
      <p:pic>
        <p:nvPicPr>
          <p:cNvPr id="6" name="Picture 5" descr="fig_firm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309360" cy="42552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86600" y="1463040"/>
            <a:ext cx="4617720" cy="45262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2062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D08770"/>
                </a:solidFill>
                <a:latin typeface="Microsoft YaHei"/>
                <a:ea typeface="Microsoft YaHei"/>
              </a:rPr>
              <a:t>主要发现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处理后 1 d 起硬度快速下降，1–5 d 为软化主期。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5 d 时 CK 硬度 46 N，而 SUC/FRU/GLU 分别降至 33/28/28 N，显著低于 CK（p&lt;0.001）。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1、3、7 d 多个糖处理亦显著低于 CK，果糖、葡萄糖促软化最强。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9 d 各组降至 16–19 N 且差异不显著——均已完熟。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55B66"/>
                </a:solidFill>
                <a:latin typeface="Microsoft YaHei"/>
                <a:ea typeface="Microsoft YaHei"/>
              </a:rPr>
              <a:t>误差棒为标准差(SD, n=3)；* p&lt;0.05, ** p&lt;0.01, *** p&lt;0.001（相对 CK，Tukey HSD）。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RESULTS — TSS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数据结果 · 可溶性固形物 (TSS)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05</a:t>
            </a:r>
          </a:p>
        </p:txBody>
      </p:sp>
      <p:pic>
        <p:nvPicPr>
          <p:cNvPr id="6" name="Picture 5" descr="fig_t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309360" cy="42552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86600" y="1463040"/>
            <a:ext cx="4617720" cy="45262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2062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4C9A8E"/>
                </a:solidFill>
                <a:latin typeface="Microsoft YaHei"/>
                <a:ea typeface="Microsoft YaHei"/>
              </a:rPr>
              <a:t>主要发现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0–3 d 各组 TSS 相近（9–10 °Brix）。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5 d 糖处理 TSS 升至 15.7–16.5，明显高于 CK 12.6 °Brix，跃变提前。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7 d 时 SUC、FRU 显著高于 CK（p&lt;0.01），糖处理后熟进程领先。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9 d 各组趋同至约 22 °Brix，最终甜度水平一致。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55B66"/>
                </a:solidFill>
                <a:latin typeface="Microsoft YaHei"/>
                <a:ea typeface="Microsoft YaHei"/>
              </a:rPr>
              <a:t>误差棒为标准差(SD, n=3)；* p&lt;0.05, ** p&lt;0.01, *** p&lt;0.001（相对 CK，Tukey HSD）。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RESULTS — SUCROSE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数据结果 · 蔗糖含量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06</a:t>
            </a:r>
          </a:p>
        </p:txBody>
      </p:sp>
      <p:pic>
        <p:nvPicPr>
          <p:cNvPr id="6" name="Picture 5" descr="fig_sucr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309360" cy="42585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86600" y="1463040"/>
            <a:ext cx="4617720" cy="45262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2062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5E81AC"/>
                </a:solidFill>
                <a:latin typeface="Microsoft YaHei"/>
                <a:ea typeface="Microsoft YaHei"/>
              </a:rPr>
              <a:t>主要发现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呈双相变化：1–3 d 糖处理蔗糖略低于 CK（p&lt;0.05），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5 d 起迅速反超，FRU 达 30.7、显著高于 CK 12.8 mg·g⁻¹。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7、9 d 三种糖处理均极显著高于 CK（p&lt;0.001）；9 d SUC 达 106 vs CK 79 mg·g⁻¹。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提示外源糖上调后期蔗糖合成/积累，是后熟加速的代谢标志。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55B66"/>
                </a:solidFill>
                <a:latin typeface="Microsoft YaHei"/>
                <a:ea typeface="Microsoft YaHei"/>
              </a:rPr>
              <a:t>误差棒为标准差(SD, n=3)；* p&lt;0.05, ** p&lt;0.01, *** p&lt;0.001（相对 CK，Tukey HSD）。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RESULTS — FLESH STAINING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数据结果 · 果肉切片染色（色泽转变）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07</a:t>
            </a:r>
          </a:p>
        </p:txBody>
      </p:sp>
      <p:pic>
        <p:nvPicPr>
          <p:cNvPr id="6" name="Picture 5" descr="台农芒果果实切片染色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52771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508760"/>
            <a:ext cx="3931920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3A59"/>
                </a:solidFill>
                <a:latin typeface="Microsoft YaHei"/>
                <a:ea typeface="Microsoft YaHei"/>
              </a:rPr>
              <a:t>图片说明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行：CK / SUC / FRU / GLU 四处理；列：0–9 d 六个时间点。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2E3A59"/>
                </a:solidFill>
                <a:latin typeface="Microsoft YaHei"/>
                <a:ea typeface="Microsoft YaHei"/>
              </a:rPr>
              <a:t>观察结果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0–3 d 果肉呈青白/灰绿，各处理相近。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5–7 d 起黄色渐显，糖处理黄化早于、深于 CK。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9 d 糖处理（尤 SUC/GLU）果肉呈深黄，色泽转变最充分。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黄化反映叶绿素降解与类胡萝卜素积累，是后熟成熟的直观标志。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STATISTICAL ANALYSIS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统计检验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Microsoft YaHei"/>
                <a:ea typeface="Microsoft YaHei"/>
              </a:rPr>
              <a:t>各时间点单因素方差分析（one-way ANOVA，处理为因素，n=3）——检验四处理间是否存在总体差异：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6766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指标\时间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0 d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1 d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3 d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5 d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7 d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9 d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</a:rPr>
                        <a:t>硬度 (N)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B66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B66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</a:rPr>
                        <a:t>TSS (°Brix)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B66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B66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B66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B66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2B2B2B"/>
                          </a:solidFill>
                          <a:latin typeface="Microsoft YaHei"/>
                          <a:ea typeface="Microsoft YaHei"/>
                        </a:rPr>
                        <a:t>蔗糖 (mg·g⁻¹)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55B66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BF616A"/>
                          </a:solidFill>
                          <a:latin typeface="Microsoft YaHei"/>
                          <a:ea typeface="Microsoft YaHei"/>
                        </a:rPr>
                        <a:t>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77639"/>
            <a:ext cx="6766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55B66"/>
                </a:solidFill>
                <a:latin typeface="Microsoft YaHei"/>
                <a:ea typeface="Microsoft YaHei"/>
              </a:rPr>
              <a:t>标记：*** p&lt;0.001，** p&lt;0.01，* p&lt;0.05，n.s. 不显著，“—”为处理起点(0 d 基线)。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4114800" cy="41148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965960"/>
            <a:ext cx="3703320" cy="3794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C9A8E"/>
                </a:solidFill>
                <a:latin typeface="Microsoft YaHei"/>
                <a:ea typeface="Microsoft YaHei"/>
              </a:rPr>
              <a:t>多重比较结论 (Tukey HSD vs CK)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00" b="0" i="0">
                <a:solidFill>
                  <a:srgbClr val="2B2B2B"/>
                </a:solidFill>
                <a:latin typeface="Microsoft YaHei"/>
                <a:ea typeface="Microsoft YaHei"/>
              </a:rPr>
              <a:t>硬度：1、3、5、7 d 糖处理普遍显著低于 CK，5 d 差异最强（p&lt;0.001）。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00" b="0" i="0">
                <a:solidFill>
                  <a:srgbClr val="2B2B2B"/>
                </a:solidFill>
                <a:latin typeface="Microsoft YaHei"/>
                <a:ea typeface="Microsoft YaHei"/>
              </a:rPr>
              <a:t>TSS：7 d SUC、FRU 显著高于 CK。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00" b="0" i="0">
                <a:solidFill>
                  <a:srgbClr val="2B2B2B"/>
                </a:solidFill>
                <a:latin typeface="Microsoft YaHei"/>
                <a:ea typeface="Microsoft YaHei"/>
              </a:rPr>
              <a:t>蔗糖：7、9 d 三种糖处理均极显著高于 CK（p&lt;0.001）。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00" b="0" i="0">
                <a:solidFill>
                  <a:srgbClr val="2B2B2B"/>
                </a:solidFill>
                <a:latin typeface="Microsoft YaHei"/>
                <a:ea typeface="Microsoft YaHei"/>
              </a:rPr>
              <a:t>综合：糖处理对“软化”和“后期蔗糖积累”的促进最稳健、可重复。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67665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55B66"/>
                </a:solidFill>
                <a:latin typeface="Microsoft YaHei"/>
                <a:ea typeface="Microsoft YaHei"/>
              </a:rPr>
              <a:t>说明：每处理每时间点 n=3，样本量较小，统计功效有限；显著性结论以效应稳健、跨时间点一致者为主，个别边界 p 值需谨慎解读。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MECHANISM &amp; LITERATURE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机制分析与文献证据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852160" cy="5029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2E3A59"/>
                </a:solidFill>
                <a:latin typeface="Microsoft YaHei"/>
                <a:ea typeface="Microsoft YaHei"/>
              </a:rPr>
              <a:t>糖不仅是底物，更是后熟的信号分子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糖信号网络（HXK / SnRK1 / TOR）广泛调控果实发育与成熟相关基因（Rolland et al., 2006, Annu. Rev. Plant Biol.）。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外源蔗糖可上调 ABA 合成、促进成熟相关基因，作为信号推动成熟（Jia et al., 2013, New Phytol.）。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跃变型果实中，糖信号与乙烯合成/响应正反馈耦联，加速软化与色泽转变。</a:t>
            </a:r>
          </a:p>
          <a:p>
            <a:pPr algn="l">
              <a:spcAft>
                <a:spcPts val="600"/>
              </a:spcAft>
            </a:pPr>
            <a:r>
              <a:rPr sz="1550" b="1" i="0">
                <a:solidFill>
                  <a:srgbClr val="2E3A59"/>
                </a:solidFill>
                <a:latin typeface="Microsoft YaHei"/>
                <a:ea typeface="Microsoft YaHei"/>
              </a:rPr>
              <a:t>与本实验数据的呼应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加速软化：糖处理硬度显著提前下降 → 细胞壁降解加快。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提前跃变：TSS 于 5 d 提前升高 → 后熟启动更早。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250" b="0" i="0">
                <a:solidFill>
                  <a:srgbClr val="2B2B2B"/>
                </a:solidFill>
                <a:latin typeface="Microsoft YaHei"/>
                <a:ea typeface="Microsoft YaHei"/>
              </a:rPr>
              <a:t>代谢重塑：后期蔗糖显著积累 + 果肉黄化增强 → 糖代谢与类胡萝卜素合成同步上调。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417320"/>
            <a:ext cx="4983480" cy="452628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72768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C9A8E"/>
                </a:solidFill>
                <a:latin typeface="Microsoft YaHei"/>
                <a:ea typeface="Microsoft YaHei"/>
              </a:rPr>
              <a:t>机制链路（推测）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2057400"/>
            <a:ext cx="4434840" cy="603504"/>
          </a:xfrm>
          <a:prstGeom prst="rect">
            <a:avLst/>
          </a:prstGeom>
          <a:solidFill>
            <a:srgbClr val="5E81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084832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外源糖浸果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0F3F7"/>
                </a:solidFill>
                <a:latin typeface="Microsoft YaHei"/>
                <a:ea typeface="Microsoft YaHei"/>
              </a:rPr>
              <a:t>SUC / FRU / GLU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098280" y="2660904"/>
            <a:ext cx="256032" cy="164592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95160" y="2825496"/>
            <a:ext cx="4434840" cy="60350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852928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糖信号感知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0F3F7"/>
                </a:solidFill>
                <a:latin typeface="Microsoft YaHei"/>
                <a:ea typeface="Microsoft YaHei"/>
              </a:rPr>
              <a:t>HXK / SnRK1 / TOR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098280" y="3429000"/>
            <a:ext cx="256032" cy="164592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593592"/>
            <a:ext cx="4434840" cy="603504"/>
          </a:xfrm>
          <a:prstGeom prst="rect">
            <a:avLst/>
          </a:prstGeom>
          <a:solidFill>
            <a:srgbClr val="D087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621024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乙烯合成与响应↑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0F3F7"/>
                </a:solidFill>
                <a:latin typeface="Microsoft YaHei"/>
                <a:ea typeface="Microsoft YaHei"/>
              </a:rPr>
              <a:t>呼吸跃变提前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098280" y="4197096"/>
            <a:ext cx="256032" cy="164592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4361688"/>
            <a:ext cx="4434840" cy="603504"/>
          </a:xfrm>
          <a:prstGeom prst="rect">
            <a:avLst/>
          </a:prstGeom>
          <a:solidFill>
            <a:srgbClr val="A3B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389120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后熟进程加速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0F3F7"/>
                </a:solidFill>
                <a:latin typeface="Microsoft YaHei"/>
                <a:ea typeface="Microsoft YaHei"/>
              </a:rPr>
              <a:t>软化↑ · TSS↑ · 蔗糖积累↑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098280" y="4965192"/>
            <a:ext cx="256032" cy="164592"/>
          </a:xfrm>
          <a:prstGeom prst="downArrow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95160" y="5129784"/>
            <a:ext cx="4434840" cy="603504"/>
          </a:xfrm>
          <a:prstGeom prst="rect">
            <a:avLst/>
          </a:prstGeom>
          <a:solidFill>
            <a:srgbClr val="BF6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157216"/>
            <a:ext cx="42062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色泽转变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0F3F7"/>
                </a:solidFill>
                <a:latin typeface="Microsoft YaHei"/>
                <a:ea typeface="Microsoft YaHei"/>
              </a:rPr>
              <a:t>叶绿素降解 · 类胡萝卜素↑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4C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4241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9FB4CE"/>
                </a:solidFill>
                <a:latin typeface="Microsoft YaHei"/>
                <a:ea typeface="Microsoft YaHei"/>
              </a:rPr>
              <a:t>CONCLUSIONS &amp; OUTLOOK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结论与展望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28016"/>
            <a:ext cx="9601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 i="0">
                <a:solidFill>
                  <a:srgbClr val="9FB4CE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E3A59"/>
                </a:solidFill>
                <a:latin typeface="Microsoft YaHei"/>
                <a:ea typeface="Microsoft YaHei"/>
              </a:rPr>
              <a:t>主要结论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外源糖浸果（蔗糖/果糖/葡萄糖）总体加速台农芒果采后后熟。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表现为：硬度显著提前下降、TSS 于 5 d 提前上升、后期蔗糖显著积累、果肉黄化增强。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促软化效应以果糖、葡萄糖略强；9 d 各组趋同，糖处理主要“加快节奏”而非改变终点。</a:t>
            </a:r>
          </a:p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500" b="0" i="0">
                <a:solidFill>
                  <a:srgbClr val="2B2B2B"/>
                </a:solidFill>
                <a:latin typeface="Microsoft YaHei"/>
                <a:ea typeface="Microsoft YaHei"/>
              </a:rPr>
              <a:t>统计上，软化与后期蔗糖积累的差异最稳健（多时间点 p&lt;0.01~0.001）。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463040"/>
            <a:ext cx="4114800" cy="448056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645920"/>
            <a:ext cx="3703320" cy="4114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4C9A8E"/>
                </a:solidFill>
                <a:latin typeface="Microsoft YaHei"/>
                <a:ea typeface="Microsoft YaHei"/>
              </a:rPr>
              <a:t>局限与展望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50" b="0" i="0">
                <a:solidFill>
                  <a:srgbClr val="2B2B2B"/>
                </a:solidFill>
                <a:latin typeface="Microsoft YaHei"/>
                <a:ea typeface="Microsoft YaHei"/>
              </a:rPr>
              <a:t>每点 n=3，建议扩大重复并设糖浓度梯度。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50" b="0" i="0">
                <a:solidFill>
                  <a:srgbClr val="2B2B2B"/>
                </a:solidFill>
                <a:latin typeface="Microsoft YaHei"/>
                <a:ea typeface="Microsoft YaHei"/>
              </a:rPr>
              <a:t>补测乙烯释放速率与呼吸强度，直接验证跃变提前。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50" b="0" i="0">
                <a:solidFill>
                  <a:srgbClr val="2B2B2B"/>
                </a:solidFill>
                <a:latin typeface="Microsoft YaHei"/>
                <a:ea typeface="Microsoft YaHei"/>
              </a:rPr>
              <a:t>增加还原糖、淀粉、关键酶(SPS/转化酶)及成熟相关基因表达。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2B2B2B"/>
                </a:solidFill>
                <a:latin typeface="Microsoft YaHei"/>
                <a:ea typeface="Microsoft YaHei"/>
              </a:rPr>
              <a:t>•  </a:t>
            </a:r>
            <a:r>
              <a:rPr sz="1350" b="0" i="0">
                <a:solidFill>
                  <a:srgbClr val="2B2B2B"/>
                </a:solidFill>
                <a:latin typeface="Microsoft YaHei"/>
                <a:ea typeface="Microsoft YaHei"/>
              </a:rPr>
              <a:t>染色宜量化（色差 L*a*b* / 类胡萝卜素含量）以支撑统计。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台农芒果采后糖处理实验 · 采后生理研究团队组会汇报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555B66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