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4200" b="1">
                <a:solidFill>
                  <a:srgbClr val="0E3F8C"/>
                </a:solidFill>
                <a:latin typeface="Microsoft YaHei"/>
              </a:defRPr>
            </a:pPr>
            <a:r>
              <a:t>台农芒果采后糖处理实验分析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800" b="0">
                <a:solidFill>
                  <a:srgbClr val="3D7BD9"/>
                </a:solidFill>
                <a:latin typeface="Times New Roman"/>
              </a:defRPr>
            </a:pPr>
            <a:r>
              <a:t>Effects of Postharvest Sugar Treatment on Ripening of Tainong Mango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3017520" cy="254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300"/>
              </a:spcAft>
              <a:defRPr sz="1600" b="0">
                <a:solidFill>
                  <a:srgbClr val="4A5568"/>
                </a:solidFill>
                <a:latin typeface="Microsoft YaHei"/>
              </a:defRPr>
            </a:pPr>
            <a:r>
              <a:t>外源糖浸果处理对芒果后熟进程的影响研究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1A2230"/>
                </a:solidFill>
                <a:latin typeface="Microsoft YaHei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  <a:defRPr sz="1400" b="0">
                <a:solidFill>
                  <a:srgbClr val="1A2230"/>
                </a:solidFill>
                <a:latin typeface="Microsoft YaHei"/>
              </a:defRPr>
            </a:pPr>
            <a:r>
              <a:t>汇报对象：课题组组会（导师与团队成员）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400" b="0">
                <a:solidFill>
                  <a:srgbClr val="1A2230"/>
                </a:solidFill>
                <a:latin typeface="Microsoft YaHei"/>
              </a:defRPr>
            </a:pPr>
            <a:r>
              <a:t>汇报人：采后生理研究团队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400" b="0">
                <a:solidFill>
                  <a:srgbClr val="1A2230"/>
                </a:solidFill>
                <a:latin typeface="Microsoft YaHei"/>
              </a:defRPr>
            </a:pPr>
            <a:r>
              <a:t>日期：2026年8月</a:t>
            </a:r>
          </a:p>
        </p:txBody>
      </p:sp>
      <p:pic>
        <p:nvPicPr>
          <p:cNvPr id="8" name="Picture 7" descr="mango_st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937760"/>
            <a:ext cx="5486400" cy="34968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采后生理研究团队 · 实验分析报告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800" b="1">
                <a:solidFill>
                  <a:srgbClr val="0E3F8C"/>
                </a:solidFill>
                <a:latin typeface="Microsoft YaHei"/>
              </a:defRPr>
            </a:pPr>
            <a:r>
              <a:t>汇报内容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0">
                <a:solidFill>
                  <a:srgbClr val="8B97A8"/>
                </a:solidFill>
                <a:latin typeface="Times New Roman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731520" cy="7315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72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实验设计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Microsoft YaHei"/>
              </a:defRPr>
            </a:pPr>
            <a:r>
              <a:t>研究背景、材料与方法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267712"/>
            <a:ext cx="8686800" cy="63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606040"/>
            <a:ext cx="731520" cy="73152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243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数据结果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Microsoft YaHei"/>
              </a:defRPr>
            </a:pPr>
            <a:r>
              <a:t>TSS、果实硬度、蔗糖含量动态变化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319272"/>
            <a:ext cx="8686800" cy="63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731520" cy="7315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758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统计检验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69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Microsoft YaHei"/>
              </a:defRPr>
            </a:pPr>
            <a:r>
              <a:t>单因素方差分析与组间t检验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370832"/>
            <a:ext cx="8686800" cy="63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7274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机制分析与文献证据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Microsoft YaHei"/>
              </a:defRPr>
            </a:pPr>
            <a:r>
              <a:t>外源糖调控后熟代谢途径与表型佐证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5422392"/>
            <a:ext cx="8686800" cy="63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3474720" cy="53035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4800" b="1">
                <a:solidFill>
                  <a:srgbClr val="1E4FA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400" b="1">
                <a:solidFill>
                  <a:srgbClr val="0E3F8C"/>
                </a:solidFill>
                <a:latin typeface="Microsoft YaHei"/>
              </a:defRPr>
            </a:pPr>
            <a:r>
              <a:t>实验设计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0">
                <a:solidFill>
                  <a:srgbClr val="4A5568"/>
                </a:solidFill>
                <a:latin typeface="Microsoft YaHei"/>
              </a:defRPr>
            </a:pPr>
            <a:r>
              <a:t>研究背景与实验目的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373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500" b="0">
                <a:solidFill>
                  <a:srgbClr val="1A2230"/>
                </a:solidFill>
                <a:latin typeface="Microsoft YaHei"/>
              </a:defRPr>
            </a:pPr>
            <a:r>
              <a:t>芒果为呼吸跃变型果实，采后伴随乙烯释放高峰，果实快速后熟软化。TSS（可溶性固形物）上升、硬度下降、蔗糖积累是后熟进程的关键标志。已有研究表明，外源糖可作为信号分子和代谢底物，调控果实后熟进程，但不同糖类对芒果后熟的调控效果尚缺乏系统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00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科学假说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500" b="0">
                <a:solidFill>
                  <a:srgbClr val="1A2230"/>
                </a:solidFill>
                <a:latin typeface="Microsoft YaHei"/>
              </a:defRPr>
            </a:pPr>
            <a:r>
              <a:t>外源糖（蔗糖、果糖、葡萄糖）浸果处理可加速台农芒果后熟进程，具体表现为：TSS提前升高、硬度加速下降、蔗糖含量积累提前。不同糖类因代谢途径差异，对后熟调控效果可能不同。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9377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000" b="1">
                <a:solidFill>
                  <a:srgbClr val="0E3F8C"/>
                </a:solidFill>
                <a:latin typeface="Microsoft YaHei"/>
              </a:defRPr>
            </a:pPr>
            <a:r>
              <a:t>实验目的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3949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500" b="0">
                <a:solidFill>
                  <a:srgbClr val="1A2230"/>
                </a:solidFill>
                <a:latin typeface="Microsoft YaHei"/>
              </a:defRPr>
            </a:pPr>
            <a:r>
              <a:t>① 比较三种外源糖处理对芒果后熟各指标的影响</a:t>
            </a:r>
            <a:br/>
            <a:r>
              <a:t>② 确定糖处理加速后熟的关键时间窗口</a:t>
            </a:r>
            <a:br/>
            <a:r>
              <a:t>③ 探讨外源糖调控后熟的生理机制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800" b="1">
                <a:solidFill>
                  <a:srgbClr val="0E3F8C"/>
                </a:solidFill>
                <a:latin typeface="Microsoft YaHei"/>
              </a:defRPr>
            </a:pPr>
            <a:r>
              <a:t>实验材料与设计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MATERIALS &amp;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实验分组与处理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486400" cy="5029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CK（对照）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64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蒸馏水浸果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647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基线对照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蔗糖处理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313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蔗糖溶液浸果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134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双糖处理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5486400" cy="5029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62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果糖处理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862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果糖溶液浸果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62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单糖处理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107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葡萄糖处理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410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葡萄糖溶液浸果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107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醛糖处理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采样时间与测定指标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011680"/>
            <a:ext cx="365760" cy="365760"/>
          </a:xfrm>
          <a:prstGeom prst="ellipse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76272"/>
            <a:ext cx="502920" cy="254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69480" y="2011680"/>
            <a:ext cx="365760" cy="36576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2176272"/>
            <a:ext cx="502920" cy="254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2011680"/>
            <a:ext cx="365760" cy="36576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2176272"/>
            <a:ext cx="502920" cy="254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06840" y="2011680"/>
            <a:ext cx="365760" cy="36576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2176272"/>
            <a:ext cx="502920" cy="254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75520" y="2011680"/>
            <a:ext cx="365760" cy="36576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7D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2176272"/>
            <a:ext cx="502920" cy="254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44200" y="2011680"/>
            <a:ext cx="365760" cy="36576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442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9D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560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采后天数（Days after treatment）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0E3F8C"/>
                </a:solidFill>
                <a:latin typeface="Microsoft YaHei"/>
              </a:defRPr>
            </a:pPr>
            <a:r>
              <a:t>测定指标（3项）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520440"/>
            <a:ext cx="5394960" cy="7772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593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TSS（可溶性固形物）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3593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手持折光仪 · 单位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后熟甜度指标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389120"/>
            <a:ext cx="5394960" cy="7772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462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果实硬度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462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质构仪 · 单位 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软化进程指标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257800"/>
            <a:ext cx="5394960" cy="7772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330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蔗糖含量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330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蒽酮比色法 · 单位 mg/g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669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糖代谢指标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D9534F"/>
                </a:solidFill>
                <a:latin typeface="Microsoft YaHei"/>
              </a:defRPr>
            </a:pPr>
            <a:r>
              <a:t>n = 3（生物学重复）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600" b="1">
                <a:solidFill>
                  <a:srgbClr val="0E3F8C"/>
                </a:solidFill>
                <a:latin typeface="Microsoft YaHei"/>
              </a:defRPr>
            </a:pPr>
            <a:r>
              <a:t>可溶性固形物（TSS）变化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DATA RESULTS · TSS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583680" cy="4350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80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4480560" cy="960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73152" cy="9601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901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5D显著差异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128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蔗糖/果糖组TSS显著高于CK</a:t>
            </a:r>
            <a:br/>
            <a:r>
              <a:t>（p&lt;0.01 / p&lt;0.05）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880360"/>
            <a:ext cx="4480560" cy="960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2880360"/>
            <a:ext cx="73152" cy="9601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953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7D差异持续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644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三处理组TSS均显著高于CK</a:t>
            </a:r>
            <a:br/>
            <a:r>
              <a:t>（p&lt;0.05）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931920"/>
            <a:ext cx="4480560" cy="960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931920"/>
            <a:ext cx="73152" cy="9601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9D趋同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3159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各组TSS趋于一致（~22%）</a:t>
            </a:r>
            <a:br/>
            <a:r>
              <a:t>后熟完成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5029200"/>
            <a:ext cx="4480560" cy="7772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5D TSS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CK 12.6%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果糖组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16.2% (+28.6%)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600" b="1">
                <a:solidFill>
                  <a:srgbClr val="0E3F8C"/>
                </a:solidFill>
                <a:latin typeface="Microsoft YaHei"/>
              </a:defRPr>
            </a:pPr>
            <a:r>
              <a:t>糖处理加速后熟：三项指标协同证据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KEY RESULTS · 5D TIME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500" b="1">
                <a:solidFill>
                  <a:srgbClr val="0E3F8C"/>
                </a:solidFill>
                <a:latin typeface="Microsoft YaHei"/>
              </a:defRPr>
            </a:pPr>
            <a:r>
              <a:t>采后第5天（5D）是糖处理组与CK差异最显著的时间窗口——三项指标协同指向"加速后熟"效应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657600" cy="10972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4A5568"/>
                </a:solidFill>
                <a:latin typeface="Microsoft YaHei"/>
              </a:defRPr>
            </a:pPr>
            <a:r>
              <a:t>TSS提升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5400" b="1">
                <a:solidFill>
                  <a:srgbClr val="D9534F"/>
                </a:solidFill>
                <a:latin typeface="Microsoft YaHei"/>
              </a:defRPr>
            </a:pPr>
            <a:r>
              <a:t>+28.6%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8B97A8"/>
                </a:solidFill>
                <a:latin typeface="Microsoft YaHei"/>
              </a:defRPr>
            </a:pPr>
            <a:r>
              <a:t>果糖组 vs CK</a:t>
            </a:r>
            <a:br/>
            <a:r>
              <a:t>(5D, p&lt;0.05)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657600" cy="10972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4A5568"/>
                </a:solidFill>
                <a:latin typeface="Microsoft YaHei"/>
              </a:defRPr>
            </a:pPr>
            <a:r>
              <a:t>硬度降幅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5400" b="1">
                <a:solidFill>
                  <a:srgbClr val="3D7BD9"/>
                </a:solidFill>
                <a:latin typeface="Microsoft YaHei"/>
              </a:defRPr>
            </a:pPr>
            <a:r>
              <a:t>-39.1%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8B97A8"/>
                </a:solidFill>
                <a:latin typeface="Microsoft YaHei"/>
              </a:defRPr>
            </a:pPr>
            <a:r>
              <a:t>果糖组 vs CK</a:t>
            </a:r>
            <a:br/>
            <a:r>
              <a:t>(5D, p&lt;0.001)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657600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4A5568"/>
                </a:solidFill>
                <a:latin typeface="Microsoft YaHei"/>
              </a:defRPr>
            </a:pPr>
            <a:r>
              <a:t>蔗糖倍增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5400" b="1">
                <a:solidFill>
                  <a:srgbClr val="FFC107"/>
                </a:solidFill>
                <a:latin typeface="Microsoft YaHei"/>
              </a:defRPr>
            </a:pPr>
            <a:r>
              <a:t>+140.1%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8B97A8"/>
                </a:solidFill>
                <a:latin typeface="Microsoft YaHei"/>
              </a:defRPr>
            </a:pPr>
            <a:r>
              <a:t>果糖组 vs CK</a:t>
            </a:r>
            <a:br/>
            <a:r>
              <a:t>(5D, p&lt;0.001)</a:t>
            </a:r>
          </a:p>
        </p:txBody>
      </p:sp>
      <p:pic>
        <p:nvPicPr>
          <p:cNvPr id="22" name="Picture 21" descr="sucro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11247120" cy="668531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05332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结论：5D时点糖处理组在TSS↑、硬度↓、蔗糖↑三方面均显著优于CK，果糖处理效果最突出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600" b="1">
                <a:solidFill>
                  <a:srgbClr val="0E3F8C"/>
                </a:solidFill>
                <a:latin typeface="Microsoft YaHei"/>
              </a:defRPr>
            </a:pPr>
            <a:r>
              <a:t>果实硬度变化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DATA RESULTS · FIRMNESS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rmne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583680" cy="435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80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软化加速分析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4480560" cy="960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73152" cy="9601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901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1D即现差异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128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处理组硬度已低于CK</a:t>
            </a:r>
            <a:br/>
            <a:r>
              <a:t>果糖/葡萄糖组 p&lt;0.01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880360"/>
            <a:ext cx="4480560" cy="960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2880360"/>
            <a:ext cx="73152" cy="9601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953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3D-5D差异最大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644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5D时果糖组28N vs CK 46N</a:t>
            </a:r>
            <a:br/>
            <a:r>
              <a:t>降幅达39.1%（p&lt;0.001）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931920"/>
            <a:ext cx="4480560" cy="960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931920"/>
            <a:ext cx="73152" cy="9601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7D后趋同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3159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1A2230"/>
                </a:solidFill>
                <a:latin typeface="Microsoft YaHei"/>
              </a:defRPr>
            </a:pPr>
            <a:r>
              <a:t>各组硬度降至~20N</a:t>
            </a:r>
            <a:br/>
            <a:r>
              <a:t>完全软化，差异缩小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5029200"/>
            <a:ext cx="4480560" cy="7772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5D 硬度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CK 46N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果糖组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28N (-39.1%)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3474720" cy="53035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4800" b="1">
                <a:solidFill>
                  <a:srgbClr val="1E4FA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400" b="1">
                <a:solidFill>
                  <a:srgbClr val="0E3F8C"/>
                </a:solidFill>
                <a:latin typeface="Microsoft YaHei"/>
              </a:defRPr>
            </a:pPr>
            <a:r>
              <a:t>统计检验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0">
                <a:solidFill>
                  <a:srgbClr val="4A5568"/>
                </a:solidFill>
                <a:latin typeface="Microsoft YaHei"/>
              </a:defRPr>
            </a:pPr>
            <a:r>
              <a:t>单因素方差分析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300" b="0">
                <a:solidFill>
                  <a:srgbClr val="1A2230"/>
                </a:solidFill>
                <a:latin typeface="Microsoft YaHei"/>
              </a:defRPr>
            </a:pPr>
            <a:r>
              <a:t>One-way ANOVA</a:t>
            </a:r>
            <a:br/>
            <a:r>
              <a:t>4组 × 6时间点</a:t>
            </a:r>
            <a:br/>
            <a:r>
              <a:t>n=3/组</a:t>
            </a:r>
            <a:br/>
            <a:r>
              <a:t>显著性阈值: p&lt;0.05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34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ANOVA检验结果（F值 / p值 / 显著性）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31920" y="173736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2011680"/>
                <a:gridCol w="18288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时间点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TSS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3.070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TSS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4.163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0.047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TSS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7D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10.324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硬度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17.215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硬度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8.813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硬度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88.402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13.923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3D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25.918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7.868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7D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73.454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9D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35.518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3192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* p&lt;0.05  ** p&lt;0.01  *** p&lt;0.001  ns: 无显著差异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600" b="1">
                <a:solidFill>
                  <a:srgbClr val="0E3F8C"/>
                </a:solidFill>
                <a:latin typeface="Microsoft YaHei"/>
              </a:defRPr>
            </a:pPr>
            <a:r>
              <a:t>CK vs 处理组 t检验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STATISTICAL TESTS · PAIRWISE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0E3F8C"/>
                </a:solidFill>
                <a:latin typeface="Microsoft YaHei"/>
              </a:defRPr>
            </a:pPr>
            <a:r>
              <a:t>各时间点 CK vs 处理组 独立样本t检验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9164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554480"/>
                <a:gridCol w="1554480"/>
                <a:gridCol w="146304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vs 蔗糖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vs 果糖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vs 葡萄糖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TSS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8B97A8"/>
                          </a:solidFill>
                          <a:latin typeface="Microsoft YaHei"/>
                        </a:defRPr>
                      </a:pPr>
                      <a:r>
                        <a:t>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TSS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7D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硬度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硬度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3D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7BD9"/>
                          </a:solidFill>
                          <a:latin typeface="Microsoft YaHe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硬度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1D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8B97A8"/>
                          </a:solidFill>
                          <a:latin typeface="Microsoft YaHei"/>
                        </a:defRPr>
                      </a:pPr>
                      <a:r>
                        <a:t>ns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8B97A8"/>
                          </a:solidFill>
                          <a:latin typeface="Microsoft YaHei"/>
                        </a:defRPr>
                      </a:pPr>
                      <a:r>
                        <a:t>ns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7D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蔗糖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230"/>
                          </a:solidFill>
                          <a:latin typeface="Microsoft YaHei"/>
                        </a:defRPr>
                      </a:pPr>
                      <a:r>
                        <a:t>9D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534F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3F8C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691640"/>
            <a:ext cx="4297680" cy="438912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691640"/>
            <a:ext cx="4297680" cy="457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关键结论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▸ 硬度响应最早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06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1D即出现显著差异，糖处理加速软化启动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▸ 5D差异最集中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520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三项指标在5D均达最大组间差异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114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▸ 蔗糖持续显著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1D-9D蔗糖组蔗糖含量持续高于CK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29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▸ 果糖效果突出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349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在硬度和蔗糖指标上果糖组多数时间点差异最显著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600" b="1">
                <a:solidFill>
                  <a:srgbClr val="0E3F8C"/>
                </a:solidFill>
                <a:latin typeface="Microsoft YaHei"/>
              </a:defRPr>
            </a:pPr>
            <a:r>
              <a:t>机制分析：外源糖调控后熟代谢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MECHANISM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外源糖调控后熟通路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59436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外源糖浸果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蔗糖/果糖/葡萄糖</a:t>
            </a:r>
            <a:br/>
            <a:r>
              <a:t>渗透进入果肉组织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508760" y="2359152"/>
            <a:ext cx="365760" cy="274320"/>
          </a:xfrm>
          <a:prstGeom prst="downArrow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00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糖信号感知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98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糖感受蛋白SnRK1/TOR</a:t>
            </a:r>
            <a:br/>
            <a:r>
              <a:t>感知细胞糖水平变化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508760" y="3502152"/>
            <a:ext cx="365760" cy="274320"/>
          </a:xfrm>
          <a:prstGeom prst="downArrow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2286000" cy="5943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乙烯合成上调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041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ACS/ACO基因表达↑</a:t>
            </a:r>
            <a:br/>
            <a:r>
              <a:t>乙烯释放高峰提前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508760" y="4645152"/>
            <a:ext cx="365760" cy="274320"/>
          </a:xfrm>
          <a:prstGeom prst="downArrow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2286000" cy="59436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760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后熟进程加速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1846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TSS↑ 硬度↓ 蔗糖↑</a:t>
            </a:r>
            <a:br/>
            <a:r>
              <a:t>后熟标志指标提前变化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文献证据与机制解读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5394960" cy="10058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737360"/>
            <a:ext cx="73152" cy="10058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糖作为信号分子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103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Rolland et al. (2006) Plant Cell</a:t>
            </a:r>
            <a:br/>
            <a:r>
              <a:t>糖不仅是代谢底物，更是调控植物生长发育的关键信号分子，通过SnRK1/TOR通路感知细胞能量状态。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34640"/>
            <a:ext cx="5394960" cy="10058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834640"/>
            <a:ext cx="73152" cy="10058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907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糖调控乙烯合成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200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Pourcher et al. (2006) Plant Physiol</a:t>
            </a:r>
            <a:br/>
            <a:r>
              <a:t>外源糖可上调乙烯合成关键酶ACS/ACO表达，促进乙烯释放，启动跃变型果实后熟。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5394960" cy="10058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931920"/>
            <a:ext cx="73152" cy="10058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005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芒果采后糖代谢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7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Subramanyam &amp; Basker (2020) Postharvest Biol Technol</a:t>
            </a:r>
            <a:br/>
            <a:r>
              <a:t>芒果后熟期间蔗糖磷酸合成酶(SPS)活性上升，蔗糖积累是后熟的重要标志。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29200"/>
            <a:ext cx="5394960" cy="1005840"/>
          </a:xfrm>
          <a:prstGeom prst="rect">
            <a:avLst/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5029200"/>
            <a:ext cx="73152" cy="10058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1">
                <a:solidFill>
                  <a:srgbClr val="0E3F8C"/>
                </a:solidFill>
                <a:latin typeface="Microsoft YaHei"/>
              </a:defRPr>
            </a:pPr>
            <a:r>
              <a:t>果糖的调控优势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394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Damon &amp; Litvak (2002) Plant Physiol</a:t>
            </a:r>
            <a:br/>
            <a:r>
              <a:t>果糖作为强效信号分子，在低浓度即可调控基因表达，对后熟启动的调控效率高于葡萄糖。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14476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外源糖 → 糖信号感知 → 乙烯合成上调 → 后熟进程加速：本实验数据与文献机制一致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2600" b="1">
                <a:solidFill>
                  <a:srgbClr val="0E3F8C"/>
                </a:solidFill>
                <a:latin typeface="Microsoft YaHei"/>
              </a:defRPr>
            </a:pPr>
            <a:r>
              <a:t>切片染色：表型层面的佐证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8B97A8"/>
                </a:solidFill>
                <a:latin typeface="Times New Roman"/>
              </a:defRPr>
            </a:pPr>
            <a:r>
              <a:t>PHENOTYPIC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ngo_st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37882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760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200" b="0">
                <a:solidFill>
                  <a:srgbClr val="8B97A8"/>
                </a:solidFill>
                <a:latin typeface="Microsoft YaHei"/>
              </a:defRPr>
            </a:pPr>
            <a:r>
              <a:t>图：台农芒果果实切片染色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800" b="1">
                <a:solidFill>
                  <a:srgbClr val="0E3F8C"/>
                </a:solidFill>
                <a:latin typeface="Microsoft YaHei"/>
              </a:defRPr>
            </a:pPr>
            <a:r>
              <a:t>表型解读与文献呼应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828800"/>
            <a:ext cx="5120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828800"/>
            <a:ext cx="73152" cy="960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901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染色差异反映代谢变化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2128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切片染色直观显示不同处理组间果肉组织化学成分的差异，与TSS、蔗糖含量定量结果相互印证。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880360"/>
            <a:ext cx="5120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880360"/>
            <a:ext cx="73152" cy="960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953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糖处理组着色更深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2644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糖处理组染色程度更深，对应更高的糖含量和更活跃的后熟代谢，与蔗糖含量数据趋势一致。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931920"/>
            <a:ext cx="5120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931920"/>
            <a:ext cx="73152" cy="960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0050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硬度变化的组织学基础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3159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染色显示的细胞壁降解程度与果实硬度下降趋势吻合，印证糖处理加速细胞壁水解。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983480"/>
            <a:ext cx="5120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983480"/>
            <a:ext cx="73152" cy="960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50566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1">
                <a:solidFill>
                  <a:srgbClr val="0E3F8C"/>
                </a:solidFill>
                <a:latin typeface="Microsoft YaHei"/>
              </a:defRPr>
            </a:pPr>
            <a:r>
              <a:t>与文献一致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3675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1A2230"/>
                </a:solidFill>
                <a:latin typeface="Microsoft YaHei"/>
              </a:defRPr>
            </a:pPr>
            <a:r>
              <a:t>Seymour et al. (2012) 指出跃变型果实后熟伴随组织染色性变化，本实验表型数据与此吻合。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35040"/>
            <a:ext cx="5943600" cy="32004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053328"/>
            <a:ext cx="57607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表型证据与定量数据一致，共同支持糖处理加速后熟结论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8B97A8"/>
                </a:solidFill>
                <a:latin typeface="Microsoft YaHei"/>
              </a:defRPr>
            </a:pPr>
            <a:r>
              <a:t>采后生理研究团队 · 台农芒果采后糖处理实验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0E3F8C"/>
                </a:solidFill>
                <a:latin typeface="Microsoft YaHe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5400" b="1">
                <a:solidFill>
                  <a:srgbClr val="0E3F8C"/>
                </a:solidFill>
                <a:latin typeface="Microsoft YaHei"/>
              </a:defRPr>
            </a:pPr>
            <a:r>
              <a:t>敬请指正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1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2000" b="0">
                <a:solidFill>
                  <a:srgbClr val="3D7BD9"/>
                </a:solidFill>
                <a:latin typeface="Times New Roman"/>
              </a:defRPr>
            </a:pPr>
            <a:r>
              <a:t>Thank You 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300"/>
              </a:spcAft>
              <a:defRPr sz="1600" b="1">
                <a:solidFill>
                  <a:srgbClr val="1A2230"/>
                </a:solidFill>
                <a:latin typeface="Microsoft YaHei"/>
              </a:defRPr>
            </a:pPr>
            <a:r>
              <a:t>采后生理研究团队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300" b="0">
                <a:solidFill>
                  <a:srgbClr val="8B97A8"/>
                </a:solidFill>
                <a:latin typeface="Microsoft YaHei"/>
              </a:defRPr>
            </a:pPr>
            <a:r>
              <a:t>台农芒果采后糖处理实验分析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300" b="0">
                <a:solidFill>
                  <a:srgbClr val="8B97A8"/>
                </a:solidFill>
                <a:latin typeface="Microsoft YaHei"/>
              </a:defRPr>
            </a:pPr>
            <a:r>
              <a:t>2026年8月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采后生理研究团队 · 实验分析报告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