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2D2D2D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rPr>
                <a:latin typeface="微软雅黑" panose="020B0503020204020204" charset="-122"/>
              </a:rPr>
              <a:t>TSS 各样本分布（横轴=样本，线=时间点）</a:t>
            </a:r>
            <a:endParaRPr>
              <a:latin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0D</c:v>
                </c:pt>
              </c:strCache>
            </c:strRef>
          </c:tx>
          <c:spPr>
            <a:ln w="25400" cap="rnd" cmpd="sng" algn="ctr">
              <a:solidFill>
                <a:srgbClr val="CC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Lit>
            </c:plus>
            <c:minus>
              <c:numLit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9.2</c:v>
                </c:pt>
                <c:pt idx="1">
                  <c:v>9.2</c:v>
                </c:pt>
                <c:pt idx="2">
                  <c:v>9.2</c:v>
                </c:pt>
                <c:pt idx="3">
                  <c:v>9.2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1D</c:v>
                </c:pt>
              </c:strCache>
            </c:strRef>
          </c:tx>
          <c:spPr>
            <a:ln w="25400" cap="rnd" cmpd="sng" algn="ctr">
              <a:solidFill>
                <a:srgbClr val="99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0.32</c:v>
                </c:pt>
                <c:pt idx="1">
                  <c:v>0.15</c:v>
                </c:pt>
                <c:pt idx="2">
                  <c:v>0.06</c:v>
                </c:pt>
                <c:pt idx="3">
                  <c:v>0.12</c:v>
                </c:pt>
              </c:numLit>
            </c:plus>
            <c:minus>
              <c:numLit>
                <c:formatCode>General</c:formatCode>
                <c:ptCount val="4"/>
                <c:pt idx="0">
                  <c:v>0.32</c:v>
                </c:pt>
                <c:pt idx="1">
                  <c:v>0.15</c:v>
                </c:pt>
                <c:pt idx="2">
                  <c:v>0.06</c:v>
                </c:pt>
                <c:pt idx="3">
                  <c:v>0.12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8.83</c:v>
                </c:pt>
                <c:pt idx="1">
                  <c:v>8.37</c:v>
                </c:pt>
                <c:pt idx="2">
                  <c:v>8.57</c:v>
                </c:pt>
                <c:pt idx="3">
                  <c:v>8.57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3D</c:v>
                </c:pt>
              </c:strCache>
            </c:strRef>
          </c:tx>
          <c:spPr>
            <a:ln w="25400" cap="rnd" cmpd="sng" algn="ctr">
              <a:solidFill>
                <a:srgbClr val="6699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1.18</c:v>
                </c:pt>
                <c:pt idx="1">
                  <c:v>0.12</c:v>
                </c:pt>
                <c:pt idx="2">
                  <c:v>0.26</c:v>
                </c:pt>
                <c:pt idx="3">
                  <c:v>0.3</c:v>
                </c:pt>
              </c:numLit>
            </c:plus>
            <c:minus>
              <c:numLit>
                <c:formatCode>General</c:formatCode>
                <c:ptCount val="4"/>
                <c:pt idx="0">
                  <c:v>1.18</c:v>
                </c:pt>
                <c:pt idx="1">
                  <c:v>0.12</c:v>
                </c:pt>
                <c:pt idx="2">
                  <c:v>0.26</c:v>
                </c:pt>
                <c:pt idx="3">
                  <c:v>0.3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9.2</c:v>
                </c:pt>
                <c:pt idx="1">
                  <c:v>9.63</c:v>
                </c:pt>
                <c:pt idx="2">
                  <c:v>9.5</c:v>
                </c:pt>
                <c:pt idx="3">
                  <c:v>9.4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5D</c:v>
                </c:pt>
              </c:strCache>
            </c:strRef>
          </c:tx>
          <c:spPr>
            <a:ln w="25400" cap="rnd" cmpd="sng" algn="ctr">
              <a:solidFill>
                <a:srgbClr val="CC66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0.31</c:v>
                </c:pt>
                <c:pt idx="1">
                  <c:v>1</c:v>
                </c:pt>
                <c:pt idx="2">
                  <c:v>1.36</c:v>
                </c:pt>
                <c:pt idx="3">
                  <c:v>2.57</c:v>
                </c:pt>
              </c:numLit>
            </c:plus>
            <c:minus>
              <c:numLit>
                <c:formatCode>General</c:formatCode>
                <c:ptCount val="4"/>
                <c:pt idx="0">
                  <c:v>0.31</c:v>
                </c:pt>
                <c:pt idx="1">
                  <c:v>1</c:v>
                </c:pt>
                <c:pt idx="2">
                  <c:v>1.36</c:v>
                </c:pt>
                <c:pt idx="3">
                  <c:v>2.57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12.57</c:v>
                </c:pt>
                <c:pt idx="1">
                  <c:v>15.73</c:v>
                </c:pt>
                <c:pt idx="2">
                  <c:v>16.17</c:v>
                </c:pt>
                <c:pt idx="3">
                  <c:v>16.53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7D</c:v>
                </c:pt>
              </c:strCache>
            </c:strRef>
          </c:tx>
          <c:spPr>
            <a:ln w="25400" cap="rnd" cmpd="sng" algn="ctr">
              <a:solidFill>
                <a:srgbClr val="CC00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0.49</c:v>
                </c:pt>
                <c:pt idx="1">
                  <c:v>0.25</c:v>
                </c:pt>
                <c:pt idx="2">
                  <c:v>0.67</c:v>
                </c:pt>
                <c:pt idx="3">
                  <c:v>0.21</c:v>
                </c:pt>
              </c:numLit>
            </c:plus>
            <c:minus>
              <c:numLit>
                <c:formatCode>General</c:formatCode>
                <c:ptCount val="4"/>
                <c:pt idx="0">
                  <c:v>0.49</c:v>
                </c:pt>
                <c:pt idx="1">
                  <c:v>0.25</c:v>
                </c:pt>
                <c:pt idx="2">
                  <c:v>0.67</c:v>
                </c:pt>
                <c:pt idx="3">
                  <c:v>0.21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16.47</c:v>
                </c:pt>
                <c:pt idx="1">
                  <c:v>17.83</c:v>
                </c:pt>
                <c:pt idx="2">
                  <c:v>18.43</c:v>
                </c:pt>
                <c:pt idx="3">
                  <c:v>17.43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9D</c:v>
                </c:pt>
              </c:strCache>
            </c:strRef>
          </c:tx>
          <c:spPr>
            <a:ln w="25400" cap="rnd" cmpd="sng" algn="ctr">
              <a:solidFill>
                <a:srgbClr val="660066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0.35</c:v>
                </c:pt>
                <c:pt idx="1">
                  <c:v>0.72</c:v>
                </c:pt>
                <c:pt idx="2">
                  <c:v>0.12</c:v>
                </c:pt>
                <c:pt idx="3">
                  <c:v>0.51</c:v>
                </c:pt>
              </c:numLit>
            </c:plus>
            <c:minus>
              <c:numLit>
                <c:formatCode>General</c:formatCode>
                <c:ptCount val="4"/>
                <c:pt idx="0">
                  <c:v>0.35</c:v>
                </c:pt>
                <c:pt idx="1">
                  <c:v>0.72</c:v>
                </c:pt>
                <c:pt idx="2">
                  <c:v>0.12</c:v>
                </c:pt>
                <c:pt idx="3">
                  <c:v>0.51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22.4</c:v>
                </c:pt>
                <c:pt idx="1">
                  <c:v>22.33</c:v>
                </c:pt>
                <c:pt idx="2">
                  <c:v>21.97</c:v>
                </c:pt>
                <c:pt idx="3">
                  <c:v>22.67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15b1a7b-a28d-4dab-a282-e9c99fa2c9d0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2D2D2D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rPr>
                <a:latin typeface="微软雅黑" panose="020B0503020204020204" charset="-122"/>
              </a:rPr>
              <a:t>硬度各样本分布（横轴=样本，线=时间点）</a:t>
            </a:r>
            <a:endParaRPr>
              <a:latin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0D</c:v>
                </c:pt>
              </c:strCache>
            </c:strRef>
          </c:tx>
          <c:spPr>
            <a:ln w="25400" cap="rnd" cmpd="sng" algn="ctr">
              <a:solidFill>
                <a:srgbClr val="CC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Lit>
            </c:plus>
            <c:minus>
              <c:numLit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</c:v>
                </c:pt>
                <c:pt idx="1">
                  <c:v>124</c:v>
                </c:pt>
                <c:pt idx="2">
                  <c:v>124</c:v>
                </c:pt>
                <c:pt idx="3">
                  <c:v>124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1D</c:v>
                </c:pt>
              </c:strCache>
            </c:strRef>
          </c:tx>
          <c:spPr>
            <a:ln w="25400" cap="rnd" cmpd="sng" algn="ctr">
              <a:solidFill>
                <a:srgbClr val="99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3.51</c:v>
                </c:pt>
                <c:pt idx="1">
                  <c:v>1</c:v>
                </c:pt>
                <c:pt idx="2">
                  <c:v>1.15</c:v>
                </c:pt>
                <c:pt idx="3">
                  <c:v>0.58</c:v>
                </c:pt>
              </c:numLit>
            </c:plus>
            <c:minus>
              <c:numLit>
                <c:formatCode>General</c:formatCode>
                <c:ptCount val="4"/>
                <c:pt idx="0">
                  <c:v>3.51</c:v>
                </c:pt>
                <c:pt idx="1">
                  <c:v>1</c:v>
                </c:pt>
                <c:pt idx="2">
                  <c:v>1.15</c:v>
                </c:pt>
                <c:pt idx="3">
                  <c:v>0.58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128.33</c:v>
                </c:pt>
                <c:pt idx="1">
                  <c:v>122</c:v>
                </c:pt>
                <c:pt idx="2">
                  <c:v>118.33</c:v>
                </c:pt>
                <c:pt idx="3">
                  <c:v>118.67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3D</c:v>
                </c:pt>
              </c:strCache>
            </c:strRef>
          </c:tx>
          <c:spPr>
            <a:ln w="25400" cap="rnd" cmpd="sng" algn="ctr">
              <a:solidFill>
                <a:srgbClr val="6699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1.73</c:v>
                </c:pt>
                <c:pt idx="1">
                  <c:v>1.53</c:v>
                </c:pt>
                <c:pt idx="2">
                  <c:v>5.69</c:v>
                </c:pt>
                <c:pt idx="3">
                  <c:v>1</c:v>
                </c:pt>
              </c:numLit>
            </c:plus>
            <c:minus>
              <c:numLit>
                <c:formatCode>General</c:formatCode>
                <c:ptCount val="4"/>
                <c:pt idx="0">
                  <c:v>1.73</c:v>
                </c:pt>
                <c:pt idx="1">
                  <c:v>1.53</c:v>
                </c:pt>
                <c:pt idx="2">
                  <c:v>5.69</c:v>
                </c:pt>
                <c:pt idx="3">
                  <c:v>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73</c:v>
                </c:pt>
                <c:pt idx="1">
                  <c:v>66.33</c:v>
                </c:pt>
                <c:pt idx="2">
                  <c:v>60.33</c:v>
                </c:pt>
                <c:pt idx="3">
                  <c:v>64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5D</c:v>
                </c:pt>
              </c:strCache>
            </c:strRef>
          </c:tx>
          <c:spPr>
            <a:ln w="25400" cap="rnd" cmpd="sng" algn="ctr">
              <a:solidFill>
                <a:srgbClr val="CC66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2</c:v>
                </c:pt>
                <c:pt idx="1">
                  <c:v>1.53</c:v>
                </c:pt>
                <c:pt idx="2">
                  <c:v>1</c:v>
                </c:pt>
                <c:pt idx="3">
                  <c:v>1.53</c:v>
                </c:pt>
              </c:numLit>
            </c:plus>
            <c:minus>
              <c:numLit>
                <c:formatCode>General</c:formatCode>
                <c:ptCount val="4"/>
                <c:pt idx="0">
                  <c:v>2</c:v>
                </c:pt>
                <c:pt idx="1">
                  <c:v>1.53</c:v>
                </c:pt>
                <c:pt idx="2">
                  <c:v>1</c:v>
                </c:pt>
                <c:pt idx="3">
                  <c:v>1.53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46</c:v>
                </c:pt>
                <c:pt idx="1">
                  <c:v>32.67</c:v>
                </c:pt>
                <c:pt idx="2">
                  <c:v>28</c:v>
                </c:pt>
                <c:pt idx="3">
                  <c:v>28.33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7D</c:v>
                </c:pt>
              </c:strCache>
            </c:strRef>
          </c:tx>
          <c:spPr>
            <a:ln w="25400" cap="rnd" cmpd="sng" algn="ctr">
              <a:solidFill>
                <a:srgbClr val="CC00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2.08</c:v>
                </c:pt>
                <c:pt idx="1">
                  <c:v>0.58</c:v>
                </c:pt>
                <c:pt idx="2">
                  <c:v>1.53</c:v>
                </c:pt>
                <c:pt idx="3">
                  <c:v>1</c:v>
                </c:pt>
              </c:numLit>
            </c:plus>
            <c:minus>
              <c:numLit>
                <c:formatCode>General</c:formatCode>
                <c:ptCount val="4"/>
                <c:pt idx="0">
                  <c:v>2.08</c:v>
                </c:pt>
                <c:pt idx="1">
                  <c:v>0.58</c:v>
                </c:pt>
                <c:pt idx="2">
                  <c:v>1.53</c:v>
                </c:pt>
                <c:pt idx="3">
                  <c:v>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25.67</c:v>
                </c:pt>
                <c:pt idx="1">
                  <c:v>24.33</c:v>
                </c:pt>
                <c:pt idx="2">
                  <c:v>19.33</c:v>
                </c:pt>
                <c:pt idx="3">
                  <c:v>23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9D</c:v>
                </c:pt>
              </c:strCache>
            </c:strRef>
          </c:tx>
          <c:spPr>
            <a:ln w="25400" cap="rnd" cmpd="sng" algn="ctr">
              <a:solidFill>
                <a:srgbClr val="660066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Lit>
            </c:plus>
            <c:minus>
              <c:numLit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19</c:v>
                </c:pt>
                <c:pt idx="1">
                  <c:v>16</c:v>
                </c:pt>
                <c:pt idx="2">
                  <c:v>16</c:v>
                </c:pt>
                <c:pt idx="3">
                  <c:v>17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4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cb0c11f-c317-453a-a2c0-7a99493153b8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2D2D2D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rPr>
                <a:latin typeface="微软雅黑" panose="020B0503020204020204" charset="-122"/>
              </a:rPr>
              <a:t>蔗糖含量各样本分布（横轴=样本，线=时间点）</a:t>
            </a:r>
            <a:endParaRPr>
              <a:latin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0D</c:v>
                </c:pt>
              </c:strCache>
            </c:strRef>
          </c:tx>
          <c:spPr>
            <a:ln w="25400" cap="rnd" cmpd="sng" algn="ctr">
              <a:solidFill>
                <a:srgbClr val="CC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1.16</c:v>
                </c:pt>
                <c:pt idx="1">
                  <c:v>1.16</c:v>
                </c:pt>
                <c:pt idx="2">
                  <c:v>1.16</c:v>
                </c:pt>
                <c:pt idx="3">
                  <c:v>1.16</c:v>
                </c:pt>
              </c:numLit>
            </c:plus>
            <c:minus>
              <c:numLit>
                <c:formatCode>General</c:formatCode>
                <c:ptCount val="4"/>
                <c:pt idx="0">
                  <c:v>1.16</c:v>
                </c:pt>
                <c:pt idx="1">
                  <c:v>1.16</c:v>
                </c:pt>
                <c:pt idx="2">
                  <c:v>1.16</c:v>
                </c:pt>
                <c:pt idx="3">
                  <c:v>1.16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3.22</c:v>
                </c:pt>
                <c:pt idx="1">
                  <c:v>3.22</c:v>
                </c:pt>
                <c:pt idx="2">
                  <c:v>3.22</c:v>
                </c:pt>
                <c:pt idx="3">
                  <c:v>3.22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1D</c:v>
                </c:pt>
              </c:strCache>
            </c:strRef>
          </c:tx>
          <c:spPr>
            <a:ln w="25400" cap="rnd" cmpd="sng" algn="ctr">
              <a:solidFill>
                <a:srgbClr val="99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0.15</c:v>
                </c:pt>
                <c:pt idx="1">
                  <c:v>0.31</c:v>
                </c:pt>
                <c:pt idx="2">
                  <c:v>0.1</c:v>
                </c:pt>
                <c:pt idx="3">
                  <c:v>0.31</c:v>
                </c:pt>
              </c:numLit>
            </c:plus>
            <c:minus>
              <c:numLit>
                <c:formatCode>General</c:formatCode>
                <c:ptCount val="4"/>
                <c:pt idx="0">
                  <c:v>0.15</c:v>
                </c:pt>
                <c:pt idx="1">
                  <c:v>0.31</c:v>
                </c:pt>
                <c:pt idx="2">
                  <c:v>0.1</c:v>
                </c:pt>
                <c:pt idx="3">
                  <c:v>0.31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4.57</c:v>
                </c:pt>
                <c:pt idx="1">
                  <c:v>3.57</c:v>
                </c:pt>
                <c:pt idx="2">
                  <c:v>3.7</c:v>
                </c:pt>
                <c:pt idx="3">
                  <c:v>4.45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3D</c:v>
                </c:pt>
              </c:strCache>
            </c:strRef>
          </c:tx>
          <c:spPr>
            <a:ln w="25400" cap="rnd" cmpd="sng" algn="ctr">
              <a:solidFill>
                <a:srgbClr val="6699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0.4</c:v>
                </c:pt>
                <c:pt idx="1">
                  <c:v>1</c:v>
                </c:pt>
                <c:pt idx="2">
                  <c:v>0.23</c:v>
                </c:pt>
                <c:pt idx="3">
                  <c:v>0.1</c:v>
                </c:pt>
              </c:numLit>
            </c:plus>
            <c:minus>
              <c:numLit>
                <c:formatCode>General</c:formatCode>
                <c:ptCount val="4"/>
                <c:pt idx="0">
                  <c:v>0.4</c:v>
                </c:pt>
                <c:pt idx="1">
                  <c:v>1</c:v>
                </c:pt>
                <c:pt idx="2">
                  <c:v>0.23</c:v>
                </c:pt>
                <c:pt idx="3">
                  <c:v>0.1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7.73</c:v>
                </c:pt>
                <c:pt idx="1">
                  <c:v>3.97</c:v>
                </c:pt>
                <c:pt idx="2">
                  <c:v>5.07</c:v>
                </c:pt>
                <c:pt idx="3">
                  <c:v>4.8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5D</c:v>
                </c:pt>
              </c:strCache>
            </c:strRef>
          </c:tx>
          <c:spPr>
            <a:ln w="25400" cap="rnd" cmpd="sng" algn="ctr">
              <a:solidFill>
                <a:srgbClr val="CC66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2.07</c:v>
                </c:pt>
                <c:pt idx="1">
                  <c:v>0.67</c:v>
                </c:pt>
                <c:pt idx="2">
                  <c:v>1.72</c:v>
                </c:pt>
                <c:pt idx="3">
                  <c:v>8.96</c:v>
                </c:pt>
              </c:numLit>
            </c:plus>
            <c:minus>
              <c:numLit>
                <c:formatCode>General</c:formatCode>
                <c:ptCount val="4"/>
                <c:pt idx="0">
                  <c:v>2.07</c:v>
                </c:pt>
                <c:pt idx="1">
                  <c:v>0.67</c:v>
                </c:pt>
                <c:pt idx="2">
                  <c:v>1.72</c:v>
                </c:pt>
                <c:pt idx="3">
                  <c:v>8.96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12.8</c:v>
                </c:pt>
                <c:pt idx="1">
                  <c:v>19.93</c:v>
                </c:pt>
                <c:pt idx="2">
                  <c:v>30.73</c:v>
                </c:pt>
                <c:pt idx="3">
                  <c:v>24.8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7D</c:v>
                </c:pt>
              </c:strCache>
            </c:strRef>
          </c:tx>
          <c:spPr>
            <a:ln w="25400" cap="rnd" cmpd="sng" algn="ctr">
              <a:solidFill>
                <a:srgbClr val="CC00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2.1</c:v>
                </c:pt>
                <c:pt idx="1">
                  <c:v>0.68</c:v>
                </c:pt>
                <c:pt idx="2">
                  <c:v>1.18</c:v>
                </c:pt>
                <c:pt idx="3">
                  <c:v>0.58</c:v>
                </c:pt>
              </c:numLit>
            </c:plus>
            <c:minus>
              <c:numLit>
                <c:formatCode>General</c:formatCode>
                <c:ptCount val="4"/>
                <c:pt idx="0">
                  <c:v>2.1</c:v>
                </c:pt>
                <c:pt idx="1">
                  <c:v>0.68</c:v>
                </c:pt>
                <c:pt idx="2">
                  <c:v>1.18</c:v>
                </c:pt>
                <c:pt idx="3">
                  <c:v>0.58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41.27</c:v>
                </c:pt>
                <c:pt idx="1">
                  <c:v>54.73</c:v>
                </c:pt>
                <c:pt idx="2">
                  <c:v>51.93</c:v>
                </c:pt>
                <c:pt idx="3">
                  <c:v>54.53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9D</c:v>
                </c:pt>
              </c:strCache>
            </c:strRef>
          </c:tx>
          <c:spPr>
            <a:ln w="25400" cap="rnd" cmpd="sng" algn="ctr">
              <a:solidFill>
                <a:srgbClr val="660066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3.78</c:v>
                </c:pt>
                <c:pt idx="1">
                  <c:v>3.61</c:v>
                </c:pt>
                <c:pt idx="2">
                  <c:v>2.37</c:v>
                </c:pt>
                <c:pt idx="3">
                  <c:v>3.62</c:v>
                </c:pt>
              </c:numLit>
            </c:plus>
            <c:minus>
              <c:numLit>
                <c:formatCode>General</c:formatCode>
                <c:ptCount val="4"/>
                <c:pt idx="0">
                  <c:v>3.78</c:v>
                </c:pt>
                <c:pt idx="1">
                  <c:v>3.61</c:v>
                </c:pt>
                <c:pt idx="2">
                  <c:v>2.37</c:v>
                </c:pt>
                <c:pt idx="3">
                  <c:v>3.62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79.33</c:v>
                </c:pt>
                <c:pt idx="1">
                  <c:v>106</c:v>
                </c:pt>
                <c:pt idx="2">
                  <c:v>99.57</c:v>
                </c:pt>
                <c:pt idx="3">
                  <c:v>100.23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1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28f036c-caf2-4d4b-abc5-53562f5768ae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2D2D2D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rPr>
                <a:latin typeface="微软雅黑" panose="020B0503020204020204" charset="-122"/>
              </a:rPr>
              <a:t>9D 各处理 vs CK 终态对比</a:t>
            </a:r>
            <a:endParaRPr>
              <a:latin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TSS (°Brix)</c:v>
                </c:pt>
              </c:strCache>
            </c:strRef>
          </c:tx>
          <c:spPr>
            <a:solidFill>
              <a:srgbClr val="999999"/>
            </a:solidFill>
            <a:ln w="12700">
              <a:solidFill>
                <a:srgbClr val="999999"/>
              </a:solidFill>
            </a:ln>
          </c:spPr>
          <c:invertIfNegative val="0"/>
          <c:dLbls>
            <c:delete val="1"/>
          </c:dLbls>
          <c:errBars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0.35</c:v>
                </c:pt>
                <c:pt idx="1">
                  <c:v>0.72</c:v>
                </c:pt>
                <c:pt idx="2">
                  <c:v>0.12</c:v>
                </c:pt>
                <c:pt idx="3">
                  <c:v>0.51</c:v>
                </c:pt>
              </c:numLit>
            </c:plus>
            <c:minus>
              <c:numLit>
                <c:formatCode>General</c:formatCode>
                <c:ptCount val="4"/>
                <c:pt idx="0">
                  <c:v>0.35</c:v>
                </c:pt>
                <c:pt idx="1">
                  <c:v>0.72</c:v>
                </c:pt>
                <c:pt idx="2">
                  <c:v>0.12</c:v>
                </c:pt>
                <c:pt idx="3">
                  <c:v>0.51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22.4</c:v>
                </c:pt>
                <c:pt idx="1">
                  <c:v>22.33</c:v>
                </c:pt>
                <c:pt idx="2">
                  <c:v>21.97</c:v>
                </c:pt>
                <c:pt idx="3">
                  <c:v>22.67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硬度 (N)</c:v>
                </c:pt>
              </c:strCache>
            </c:strRef>
          </c:tx>
          <c:spPr>
            <a:solidFill>
              <a:srgbClr val="CC6600"/>
            </a:solidFill>
            <a:ln w="12700">
              <a:solidFill>
                <a:srgbClr val="CC6600"/>
              </a:solidFill>
            </a:ln>
          </c:spPr>
          <c:invertIfNegative val="0"/>
          <c:dLbls>
            <c:delete val="1"/>
          </c:dLbls>
          <c:errBars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Lit>
            </c:plus>
            <c:minus>
              <c:numLit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</c:v>
                </c:pt>
                <c:pt idx="1">
                  <c:v>16</c:v>
                </c:pt>
                <c:pt idx="2">
                  <c:v>16</c:v>
                </c:pt>
                <c:pt idx="3">
                  <c:v>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蔗糖 (mg/g FW)</c:v>
                </c:pt>
              </c:strCache>
            </c:strRef>
          </c:tx>
          <c:spPr>
            <a:solidFill>
              <a:srgbClr val="2C5F8A"/>
            </a:solidFill>
            <a:ln w="12700">
              <a:solidFill>
                <a:srgbClr val="2C5F8A"/>
              </a:solidFill>
            </a:ln>
          </c:spPr>
          <c:invertIfNegative val="0"/>
          <c:dLbls>
            <c:delete val="1"/>
          </c:dLbls>
          <c:errBars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3.78</c:v>
                </c:pt>
                <c:pt idx="1">
                  <c:v>3.61</c:v>
                </c:pt>
                <c:pt idx="2">
                  <c:v>2.37</c:v>
                </c:pt>
                <c:pt idx="3">
                  <c:v>3.62</c:v>
                </c:pt>
              </c:numLit>
            </c:plus>
            <c:minus>
              <c:numLit>
                <c:formatCode>General</c:formatCode>
                <c:ptCount val="4"/>
                <c:pt idx="0">
                  <c:v>3.78</c:v>
                </c:pt>
                <c:pt idx="1">
                  <c:v>3.61</c:v>
                </c:pt>
                <c:pt idx="2">
                  <c:v>2.37</c:v>
                </c:pt>
                <c:pt idx="3">
                  <c:v>3.62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79.33</c:v>
                </c:pt>
                <c:pt idx="1">
                  <c:v>106</c:v>
                </c:pt>
                <c:pt idx="2">
                  <c:v>99.57</c:v>
                </c:pt>
                <c:pt idx="3">
                  <c:v>100.23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40fd182-1c2a-49af-bb8f-2188a9f89c73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25603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73152" cy="256032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36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台农芒果采后糖处理实验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9601200" cy="67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1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品种  台农芒果 (Mangifera indica L. 'Tainong')</a:t>
            </a:r>
            <a:endParaRPr sz="11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  <a:defRPr sz="11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  TSS (°Brix) · 硬度 (N) · 蔗糖含量 (mg/g FW) · I₂-KI 染色</a:t>
            </a:r>
            <a:endParaRPr sz="11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057765" y="6503035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实验设计与方法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072515"/>
            <a:ext cx="5029200" cy="5300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4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4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实验材料</a:t>
            </a:r>
            <a:endParaRPr sz="14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品种：台农芒果，呼吸跃变型果实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采收期：绿熟期（商业成熟度）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处理方式：分别浸入蔗糖、果糖、葡萄糖溶液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对照（CK）：清水处理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  <a:defRPr sz="14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4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采样方案</a:t>
            </a:r>
            <a:endParaRPr sz="14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时间点：0D, 1D, 3D, 5D, 7D, 9D（共 6 个）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每组每时间点 n = 3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4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测定方法</a:t>
            </a:r>
            <a:endParaRPr sz="14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TSS：数字折光仪，°Brix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硬度：质构仪穿刺法，N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蔗糖：蒽酮比色法 / HPLC，mg/g FW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I₂-KI 染色：观察淀粉含量变化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4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统计方法</a:t>
            </a:r>
            <a:endParaRPr sz="14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均值±SD，Student's t 检验（双尾, df=4）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显著性标记：* p&lt;0.05, ** p&lt;0.01, *** p&lt;0.001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实验流程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0" y="1783080"/>
            <a:ext cx="4572000" cy="475488"/>
          </a:xfrm>
          <a:prstGeom prst="roundRect">
            <a:avLst/>
          </a:prstGeom>
          <a:solidFill>
            <a:srgbClr val="F0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856231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绿熟期采收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0" y="2331720"/>
            <a:ext cx="457200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0487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浸糖处理（蔗糖/果糖/葡萄糖）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0" y="2880360"/>
            <a:ext cx="4572000" cy="475488"/>
          </a:xfrm>
          <a:prstGeom prst="roundRect">
            <a:avLst/>
          </a:prstGeom>
          <a:solidFill>
            <a:srgbClr val="F0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0" y="295351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室温贮藏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0" y="3429000"/>
            <a:ext cx="457200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350215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↓ 0D → 1D → 3D → 5D → 7D → 9D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0" y="3977639"/>
            <a:ext cx="4572000" cy="475488"/>
          </a:xfrm>
          <a:prstGeom prst="roundRect">
            <a:avLst/>
          </a:prstGeom>
          <a:solidFill>
            <a:srgbClr val="F0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0" y="4050791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测定 TSS / 硬度 / 蔗糖含量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0" y="4526279"/>
            <a:ext cx="457200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0" y="4599431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I₂-KI 染色观察淀粉变化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0" y="5074919"/>
            <a:ext cx="4572000" cy="475488"/>
          </a:xfrm>
          <a:prstGeom prst="roundRect">
            <a:avLst/>
          </a:prstGeom>
          <a:solidFill>
            <a:srgbClr val="F0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0" y="5148071"/>
            <a:ext cx="4572000" cy="31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统计分析 + 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058400" y="6490970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可溶性固形物 TSS 动态变化（°Brix）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11580"/>
                <a:gridCol w="1211580"/>
                <a:gridCol w="1211580"/>
                <a:gridCol w="1211580"/>
              </a:tblGrid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时间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CK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果糖处理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葡萄糖处理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0D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9.2 / 9.2 / 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9.2 / 9.2 / 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9.2 / 9.2 / 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9.2 / 9.2 / 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8.6 / 8.7 / 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8.2 / 8.4 / 8.5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8.5 / 8.6 / 8.6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8.5 / 8.5 / 8.7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10.5 / 8.9 / 8.2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9.5 / 9.7 / 9.7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9.3 / 9.4 / 9.8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9.1 / 9.4 / 9.7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12.3 / 12.5 / 12.9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15.8 / 16.7 / 14.7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15.1 / 15.7 / 17.7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17.2 / 18.7 / 13.7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15.9 / 16.7 / 16.8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17.6 / 17.8 / 18.1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17.7 / 18.6 / 19.0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17.2 / 17.5 / 17.6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22.2 / 22.2 / 22.8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21.5 / 22.7 / 22.8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21.9 / 21.9 / 22.1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22.1 / 22.8 / 23.1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06240"/>
            <a:ext cx="5486400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数据来源：可溶性固形物（TSS）.xlsx  |  均值±SD, n=3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18872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4572000"/>
            <a:ext cx="5486400" cy="1645920"/>
          </a:xfrm>
          <a:prstGeom prst="roundRect">
            <a:avLst/>
          </a:prstGeom>
          <a:solidFill>
            <a:srgbClr val="F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5120640" cy="13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结果解读</a:t>
            </a:r>
            <a:endParaRPr sz="12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蔗糖、果糖处理组 </a:t>
            </a: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TSS 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显著高于 </a:t>
            </a: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CK；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葡萄糖组为边缘差异（</a:t>
            </a: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p=0.057）</a:t>
            </a:r>
            <a:endParaRPr lang="en-US" altLang="zh-CN"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7D 三组均 p&lt;0.05；9D 各组趋同 ~22°Brix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糖处理加速而非拔高最终 TSS 水平</a:t>
            </a:r>
            <a:endParaRPr lang="zh-CN" altLang="en-US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*error bar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见图</a:t>
            </a:r>
            <a:endParaRPr sz="10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250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数据来源：可溶性固形物（TSS）.xlsx  |  均值±SD, n=3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，同方差假设</a:t>
            </a:r>
            <a:endParaRPr 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057765" y="6492240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果实硬度动态变化（N）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11580"/>
                <a:gridCol w="1211580"/>
                <a:gridCol w="1211580"/>
                <a:gridCol w="1211580"/>
              </a:tblGrid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时间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CK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果糖处理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葡萄糖处理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0D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122 / 124 / 126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122 / 124 / 126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122 / 124 / 126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122 / 124 / 126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128 / 132 / 125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121 / 122 / 123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119 / 117 / 119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118 / 119 / 119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71 / 74 / 74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65 / 66 / 68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54 / 65 / 62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63 / 64 / 65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44 / 48 / 46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31 / 34 / 33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28 / 27 / 29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27 / 28 / 30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24 / 28 / 25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24 / 25 / 24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18 / 19 / 21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22 / 23 / 24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19 / 18 / 20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16 / 14 / 18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17 / 16 / 15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16 / 17 / 18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06240"/>
            <a:ext cx="5486400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数据来源：台农果实硬度.xlsx  |  均值±SD, n=3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18872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4572000"/>
            <a:ext cx="5486400" cy="1645920"/>
          </a:xfrm>
          <a:prstGeom prst="roundRect">
            <a:avLst/>
          </a:prstGeom>
          <a:solidFill>
            <a:srgbClr val="E8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5120640" cy="1382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结果解读</a:t>
            </a:r>
            <a:endParaRPr sz="12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1D 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起糖处理组硬度低于 </a:t>
            </a: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CK；5D 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处理组较 </a:t>
            </a: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CK 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降低约 28%–39%（28–33</a:t>
            </a: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vs 46N）。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果糖与葡萄糖处理硬度接近，提示二者均具有较强促软化效应；</a:t>
            </a:r>
            <a:endParaRPr lang="zh-CN" altLang="en-US"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终态较 </a:t>
            </a:r>
            <a:r>
              <a:rPr lang="en-US" altLang="zh-CN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CK </a:t>
            </a:r>
            <a:r>
              <a:rPr lang="zh-CN" altLang="en-US"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低约 10%–16%。</a:t>
            </a:r>
            <a:endParaRPr lang="zh-CN" altLang="en-US"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*error bar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见图</a:t>
            </a:r>
            <a:endParaRPr sz="10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数据来源：台农果实硬度.xlsx  |  均值±SD, n=3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057765" y="6510655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果实蔗糖含量动态变化（mg/g FW）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11580"/>
                <a:gridCol w="1211580"/>
                <a:gridCol w="1211580"/>
                <a:gridCol w="1211580"/>
              </a:tblGrid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时间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CK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果糖处理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葡萄糖处理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0D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2.00 / 3.34 / 4.32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2.00 / 3.34 / 4.32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2.00 / 3.34 / 4.32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2.00 / 3.34 / 4.32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4.4 / 4.6 / 4.7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3.3 / 3.5 / 3.9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3.6 / 3.7 / 3.8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4.1 / 4.56 / 4.7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8.1 / 7.8 / 7.3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5.1 / 3.6 / 3.2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5.2 / 4.8 / 5.2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4.8 / 4.7 / 4.9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15.1 / 12.2 / 11.1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20.1 / 20.5 / 19.2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32.1 / 31.3 / 28.8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21.2 / 35 / 18.2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39.2 / 43.4 / 41.2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54.5 / 55.5 / 54.2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51.2 / 51.3 / 53.3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54.2 / 54.2 / 55.2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80.2 / 75.2 / 82.6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110 / 105 / 103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98.2 / 98.2 / 102.3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96.2 / 101.3 / 103.2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06240"/>
            <a:ext cx="5486400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数据来源：台农果实蔗糖含量.xlsx  |  均值±SD, n=3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18872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4572000"/>
            <a:ext cx="5486400" cy="1645920"/>
          </a:xfrm>
          <a:prstGeom prst="roundRect">
            <a:avLst/>
          </a:prstGeom>
          <a:solidFill>
            <a:srgbClr val="E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5120640" cy="1328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4A7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结果解读</a:t>
            </a:r>
            <a:endParaRPr sz="1200" b="1">
              <a:solidFill>
                <a:srgbClr val="4A7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0–3D 处理组反而低于 CK（「先抑」：外源糖被呼吸消耗）</a:t>
            </a:r>
            <a:endParaRPr sz="1000" b="0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起极显著反超：果糖 p=0.0003***, 蔗糖 p=0.005**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9D 处理组 +25~34%；蔗糖处理最强（106 mg/g）</a:t>
            </a:r>
            <a:endParaRPr sz="10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*error bar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见图</a:t>
            </a:r>
            <a:endParaRPr sz="10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数据来源：台农果实蔗糖含量.xlsx  |  均值±SD, n=3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058400" y="6510655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9D 终态对比与显著性检验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188720"/>
          <a:ext cx="5943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 检验显著性汇总（vs CK）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0" y="1645920"/>
          <a:ext cx="48463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4864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时间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果糖处理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葡萄糖处理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TSS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p=0.011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 p=0.057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TSS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p=0.013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p=0.015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p=0.035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TSS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硬度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p=0.040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硬度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硬度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 p=0.081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p=0.021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 p=0.071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 p=0.087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0" y="5486400"/>
            <a:ext cx="4846320" cy="731520"/>
          </a:xfrm>
          <a:prstGeom prst="roundRect">
            <a:avLst/>
          </a:prstGeom>
          <a:solidFill>
            <a:srgbClr val="F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0880" y="5532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敏感性排序：蔗糖含量 &gt; 硬度 &gt; TSS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Student's t 检验（双尾, df=4）  |  * p&lt;0.05, ** p&lt;0.01, *** p&lt;0.001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8675" y="5562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*error bar 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见图</a:t>
            </a:r>
            <a:endParaRPr lang="zh-CN" altLang="en-US" sz="120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10057765" y="6510655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I₂-KI 染色与淀粉含量变化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台农芒果果实切片染色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890641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39150" y="1229995"/>
            <a:ext cx="3248025" cy="2377440"/>
          </a:xfrm>
          <a:prstGeom prst="roundRect">
            <a:avLst/>
          </a:prstGeom>
          <a:solidFill>
            <a:srgbClr val="E8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63940" y="1436370"/>
            <a:ext cx="2857500" cy="160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I₂-KI 染色原理</a:t>
            </a:r>
            <a:endParaRPr sz="13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淀粉遇碘（I₂）显蓝色/黑色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染色越深、面积越大 = 淀粉含量越高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染色越浅、面积越小 = 淀粉含量越低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38515" y="3749040"/>
            <a:ext cx="3265805" cy="2377440"/>
          </a:xfrm>
          <a:prstGeom prst="roundRect">
            <a:avLst/>
          </a:prstGeom>
          <a:solidFill>
            <a:srgbClr val="F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11565" y="3840480"/>
            <a:ext cx="2809875" cy="2086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染色结果</a:t>
            </a:r>
            <a:endParaRPr sz="13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7D 三种糖处理染色明显变浅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淀粉含量下降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淀粉含量越高，染色越深（蓝黑色），面积越大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淀粉含量越低，染色越浅，面积越小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I₂-KI = 碘-碘化钾染色  |  观察淀粉含量变化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057765" y="6478905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外源糖处理促进芒果成熟的机制</a:t>
            </a:r>
            <a:r>
              <a:rPr lang="en-US">
                <a:latin typeface="微软雅黑" panose="020B0503020204020204" charset="-122"/>
                <a:ea typeface="微软雅黑" panose="020B0503020204020204" charset="-122"/>
              </a:rPr>
              <a:t> (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推演</a:t>
            </a:r>
            <a:r>
              <a:rPr lang="en-US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828800" cy="640080"/>
          </a:xfrm>
          <a:prstGeom prst="roundRect">
            <a:avLst/>
          </a:prstGeom>
          <a:solidFill>
            <a:srgbClr val="FDECE8"/>
          </a:solidFill>
          <a:ln w="1905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外源糖处理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5819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蔗糖/果糖/葡萄糖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423160" y="1417320"/>
            <a:ext cx="274320" cy="274320"/>
          </a:xfrm>
          <a:prstGeom prst="rightArrow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88920" y="1234440"/>
            <a:ext cx="1828800" cy="640080"/>
          </a:xfrm>
          <a:prstGeom prst="roundRect">
            <a:avLst/>
          </a:prstGeom>
          <a:solidFill>
            <a:srgbClr val="E8EEF2"/>
          </a:solidFill>
          <a:ln w="1905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8920" y="13761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糖信号激活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754880" y="1417320"/>
            <a:ext cx="274320" cy="274320"/>
          </a:xfrm>
          <a:prstGeom prst="rightArrow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120640" y="1234440"/>
            <a:ext cx="1828800" cy="640080"/>
          </a:xfrm>
          <a:prstGeom prst="roundRect">
            <a:avLst/>
          </a:prstGeom>
          <a:solidFill>
            <a:srgbClr val="E8F0EA"/>
          </a:solidFill>
          <a:ln w="19050">
            <a:solidFill>
              <a:srgbClr val="4A7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20640" y="1307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乙烯合成↑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20640" y="15819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ACS / ACO↑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7086600" y="1417320"/>
            <a:ext cx="274320" cy="274320"/>
          </a:xfrm>
          <a:prstGeom prst="rightArrow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52360" y="1234440"/>
            <a:ext cx="1828800" cy="640080"/>
          </a:xfrm>
          <a:prstGeom prst="roundRect">
            <a:avLst/>
          </a:prstGeom>
          <a:solidFill>
            <a:srgbClr val="FDF0E0"/>
          </a:solidFill>
          <a:ln w="19050">
            <a:solidFill>
              <a:srgbClr val="CC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52360" y="1307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后熟启动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52360" y="15819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呼吸跃变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8275320" y="2011680"/>
            <a:ext cx="365760" cy="320040"/>
          </a:xfrm>
          <a:prstGeom prst="downArrow">
            <a:avLst/>
          </a:prstGeom>
          <a:solidFill>
            <a:srgbClr val="CC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57200" y="2331720"/>
            <a:ext cx="2651760" cy="2103120"/>
          </a:xfrm>
          <a:prstGeom prst="roundRect">
            <a:avLst/>
          </a:prstGeom>
          <a:solidFill>
            <a:srgbClr val="FDF5EC"/>
          </a:solidFill>
          <a:ln w="19050">
            <a:solidFill>
              <a:srgbClr val="CC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2377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切片维度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2646680"/>
            <a:ext cx="2377440" cy="1704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淀粉水解途径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α-淀粉酶↑</a:t>
            </a:r>
            <a:r>
              <a:rPr lang="zh-CN"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β-淀粉酶↑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 → 麦芽糖 → 葡萄糖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2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I₂-KI 染色变浅</a:t>
            </a:r>
            <a:endParaRPr sz="10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淀粉含量↓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数据：</a:t>
            </a:r>
            <a:r>
              <a:rPr lang="zh-CN" altLang="en-US"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en-US" altLang="zh-CN"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</a:t>
            </a:r>
            <a:r>
              <a:rPr lang="zh-CN" altLang="en-US"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染色面积/颜色变浅，可作为淀粉减少的形态学佐证</a:t>
            </a:r>
            <a:endParaRPr lang="en-US" altLang="zh-CN" sz="9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文献：[6] Li 2023 (Foods)</a:t>
            </a:r>
            <a:endParaRPr sz="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291840" y="2331720"/>
            <a:ext cx="2651760" cy="2103120"/>
          </a:xfrm>
          <a:prstGeom prst="roundRect">
            <a:avLst/>
          </a:prstGeom>
          <a:solidFill>
            <a:srgbClr val="E8F0EA"/>
          </a:solidFill>
          <a:ln w="19050">
            <a:solidFill>
              <a:srgbClr val="4A7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91840" y="2377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含糖量维度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29000" y="2697480"/>
            <a:ext cx="2377440" cy="179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蔗糖合成途径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SPS活性↑</a:t>
            </a:r>
            <a:r>
              <a:rPr lang="en-US"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 活性维持高水平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UDP-G + F-6-P → 蔗糖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2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4A7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蔗糖含量↑↑</a:t>
            </a:r>
            <a:endParaRPr sz="1000" b="1">
              <a:solidFill>
                <a:srgbClr val="4A7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起</a:t>
            </a:r>
            <a:r>
              <a:rPr lang="en-US" altLang="zh-CN"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（+56%/+140%/+94%）,9D </a:t>
            </a:r>
            <a:r>
              <a:rPr lang="zh-CN" altLang="en-US"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终态约 +25~34%</a:t>
            </a:r>
            <a:endParaRPr lang="zh-CN" altLang="en-US"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900" b="0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数据：9D 106 mg/g (CK 79)</a:t>
            </a:r>
            <a:endParaRPr sz="9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文献：[4] Ye 2009; [5] Yang ISHS</a:t>
            </a:r>
            <a:endParaRPr sz="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126480" y="2331720"/>
            <a:ext cx="2651760" cy="2103120"/>
          </a:xfrm>
          <a:prstGeom prst="roundRect">
            <a:avLst/>
          </a:prstGeom>
          <a:solidFill>
            <a:srgbClr val="E8EEF2"/>
          </a:solidFill>
          <a:ln w="1905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26480" y="2377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TSS 维度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63640" y="2697480"/>
            <a:ext cx="2377440" cy="221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0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可溶性糖积累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 + 葡萄糖 + 果糖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淀粉水解产物进入糖池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AI/NI 转化蔗糖→己糖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  <a:defRPr sz="2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10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TSS↑↑</a:t>
            </a:r>
            <a:endParaRPr sz="10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高 3-4°Brix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9D 趋同 ~22°Brix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  <a:defRPr sz="4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  <a:defRPr sz="900" b="0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 vs TSS R²=0.89</a:t>
            </a:r>
            <a:endParaRPr sz="9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文献：[5] Yang ISHS; [6] Li 2023 (Foods)</a:t>
            </a:r>
            <a:endParaRPr sz="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961120" y="2331720"/>
            <a:ext cx="2651760" cy="2103120"/>
          </a:xfrm>
          <a:prstGeom prst="roundRect">
            <a:avLst/>
          </a:prstGeom>
          <a:solidFill>
            <a:srgbClr val="FDECE8"/>
          </a:solidFill>
          <a:ln w="1905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61120" y="2377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硬度维度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098280" y="2697480"/>
            <a:ext cx="237744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0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细胞壁降解途径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PG↑ (多聚半乳糖醛酸酶)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PE↓ (果胶甲酯酶)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CX / β-GAL↑ (纤维素酶)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  <a:defRPr sz="2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10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果胶解聚 → 硬度↓↓</a:t>
            </a:r>
            <a:endParaRPr sz="10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低 30-40%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9D -10~16%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  <a:defRPr sz="4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  <a:defRPr sz="900" b="0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 vs 硬度 R²=0.53</a:t>
            </a:r>
            <a:endParaRPr sz="9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文献：[7] Sane+Chourasia; [8] Dautt-Castro</a:t>
            </a:r>
            <a:endParaRPr sz="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Down Arrow 34"/>
          <p:cNvSpPr/>
          <p:nvPr/>
        </p:nvSpPr>
        <p:spPr>
          <a:xfrm>
            <a:off x="1600200" y="4526280"/>
            <a:ext cx="365760" cy="274320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Down Arrow 35"/>
          <p:cNvSpPr/>
          <p:nvPr/>
        </p:nvSpPr>
        <p:spPr>
          <a:xfrm>
            <a:off x="4434840" y="4526280"/>
            <a:ext cx="365760" cy="274320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Down Arrow 36"/>
          <p:cNvSpPr/>
          <p:nvPr/>
        </p:nvSpPr>
        <p:spPr>
          <a:xfrm>
            <a:off x="7269480" y="4526280"/>
            <a:ext cx="365760" cy="274320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Down Arrow 37"/>
          <p:cNvSpPr/>
          <p:nvPr/>
        </p:nvSpPr>
        <p:spPr>
          <a:xfrm>
            <a:off x="10104120" y="4526280"/>
            <a:ext cx="365760" cy="274320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57200" y="4937760"/>
            <a:ext cx="11247120" cy="914400"/>
          </a:xfrm>
          <a:prstGeom prst="roundRect">
            <a:avLst/>
          </a:prstGeom>
          <a:solidFill>
            <a:srgbClr val="F5E6E6"/>
          </a:solidFill>
          <a:ln w="1905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7200" y="49834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四维度互证：加速成熟进程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" y="5321808"/>
            <a:ext cx="112471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多指标共同支持成熟进程提前：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I₂-KI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染色变浅提示淀粉含量下降；蔗糖含量上升、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上升和硬度下降共同表明糖处理组成熟进程加快。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57200" y="5989320"/>
            <a:ext cx="112471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80" y="6016752"/>
            <a:ext cx="10972800" cy="250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数据印证：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TSS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升高但显著性分组不同（蔗糖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p=0.006，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果糖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p=0.011*，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葡萄糖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p=0.057）；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硬度、蔗糖和染色结果共同支持成熟进程提前。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058400" y="6492240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相关文献依据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（1）：糖信号 → 乙烯生物合成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029200" cy="2103120"/>
          </a:xfrm>
          <a:prstGeom prst="roundRect">
            <a:avLst/>
          </a:prstGeom>
          <a:solidFill>
            <a:srgbClr val="E8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663440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lang="zh-CN" sz="1300" b="1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推测机制要点</a:t>
            </a:r>
            <a:endParaRPr sz="13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蔗糖是信号分子，调控基因表达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外源蔗糖上调乙烯合成基因（ACS/ACO）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促进乙烯信号转导通路关键基因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糖信号与 ABA 交叉对话（crosstalk）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糖 → ABA → 乙烯 → 成熟，构成级联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文献引用段落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5029200" cy="12801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466344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[1] Li et al., 2016. Acta Physiologiae Plantarum, 38(9): 1-12.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10.1007/s11738-016-2240-5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</a:t>
            </a:r>
            <a:r>
              <a:rPr lang="zh-CN">
                <a:latin typeface="微软雅黑" panose="020B0503020204020204" charset="-122"/>
              </a:rPr>
              <a:t>文献说明</a:t>
            </a:r>
            <a:r>
              <a:rPr>
                <a:latin typeface="微软雅黑" panose="020B0503020204020204" charset="-122"/>
              </a:rPr>
              <a:t>外源蔗糖可调控果实代谢，上调乙烯生物合成基因并参与乙烯信号转导，从而加速番茄采后成熟。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5212080"/>
            <a:ext cx="5029200" cy="11887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466344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[2] Osorio et al., 2020. Sugar Signaling During Fruit Ripening. Front. Plant Sci. 11:564917.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10.3389/fpls.2020.564917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引用：蔗糖代谢是果实发育的关键环节，参与蔗糖积累并调控成熟相关过程；外源蔗糖可促进草莓果实成熟。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0" y="1188720"/>
            <a:ext cx="5669280" cy="2566670"/>
          </a:xfrm>
          <a:prstGeom prst="roundRect">
            <a:avLst/>
          </a:prstGeom>
          <a:solidFill>
            <a:srgbClr val="F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0" y="128016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芒果特异性证据</a:t>
            </a:r>
            <a:endParaRPr sz="13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[3] Zaharah &amp; Singh, 2013. Postharvest Biol. Technol. 75: 37-44.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10.1016/j.postharvbio.2012.07.006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引用：ABA通过促进ACS和ACO活性加速乙烯生物合成，同时增强内切多聚半乳糖醛酸酶活性，促进果实软化。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芒果中验证了激素→乙烯→软化通路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[4] Yang et al. ISHS Acta Horticulturae 992.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10.17660/ActaHortic.2013.992.44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引用：采后阶段是'Irwin'芒果糖代谢的关键时期，SPS在此过程中发挥重要调控功能。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3600" y="3900805"/>
            <a:ext cx="5669280" cy="2499995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4022725"/>
            <a:ext cx="5303520" cy="22866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[5] Ye et al., 2009. 安徽农业科学, 2009(2): 817-818.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引用：蔗糖基聚合物处理可维持较高的SS活性，促进采后蔗糖积累，使可溶性固形物和总糖含量显著提高，增甜效果明显。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</a:t>
            </a:r>
            <a:r>
              <a:rPr lang="zh-CN" altLang="en-US">
                <a:latin typeface="微软雅黑" panose="020B0503020204020204" charset="-122"/>
              </a:rPr>
              <a:t>文献提示：糖处理可能影响 </a:t>
            </a:r>
            <a:r>
              <a:rPr lang="en-US" altLang="zh-CN">
                <a:latin typeface="微软雅黑" panose="020B0503020204020204" charset="-122"/>
              </a:rPr>
              <a:t>SPS/SS </a:t>
            </a:r>
            <a:r>
              <a:rPr lang="zh-CN" altLang="en-US">
                <a:latin typeface="微软雅黑" panose="020B0503020204020204" charset="-122"/>
              </a:rPr>
              <a:t>相关蔗糖代谢途径；本实验结果支持蔗糖含量与 </a:t>
            </a:r>
            <a:r>
              <a:rPr lang="en-US" altLang="zh-CN">
                <a:latin typeface="微软雅黑" panose="020B0503020204020204" charset="-122"/>
              </a:rPr>
              <a:t>TSS </a:t>
            </a:r>
            <a:r>
              <a:rPr lang="zh-CN" altLang="en-US">
                <a:latin typeface="微软雅黑" panose="020B0503020204020204" charset="-122"/>
              </a:rPr>
              <a:t>上升，但酶活变化仍需验证。</a:t>
            </a:r>
            <a:endParaRPr lang="zh-CN" altLang="en-US"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文献 [1]-[5]：糖信号 → 乙烯 → 成熟启动  |  详见参考文献页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057765" y="6490335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相关文献依据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（2）：淀粉水解 → 蔗糖合成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029200" cy="2589530"/>
          </a:xfrm>
          <a:prstGeom prst="roundRect">
            <a:avLst/>
          </a:prstGeom>
          <a:solidFill>
            <a:srgbClr val="FD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663440" cy="24987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lang="zh-CN" sz="13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推测</a:t>
            </a:r>
            <a:r>
              <a:rPr sz="13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机制要点</a:t>
            </a:r>
            <a:endParaRPr sz="13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芒果呼吸跃变型，采后淀粉大量水解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α-淀粉酶 (α-amylase) 表达显著上调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淀粉 → 麦芽糖 → 葡萄糖 → 糖酵解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推测 SPS 活性采后显著上升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SPS 催化 UDP-G + F-6-P → 蔗糖合成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蔗糖积累 → TSS 上升 → 果实变甜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1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 I₂-KI 染色变浅 = 淀粉水解直观证据</a:t>
            </a:r>
            <a:endParaRPr sz="11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0" y="1188720"/>
            <a:ext cx="5669280" cy="2286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5303520" cy="152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[6] Li et al., 2023. Research Progress on Mango Post-Harvest Ripening Physiology. Foods. PMC9818659.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10.3390/foods12020342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（含台农1号芒果数据）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引用：芒果成熟过程中两种α-淀粉酶基因表达显著上调，SPS与芒果果肉中蔗糖快速积累密切相关（台农1号）。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</a:t>
            </a:r>
            <a:r>
              <a:rPr lang="zh-CN" altLang="en-US">
                <a:latin typeface="微软雅黑" panose="020B0503020204020204" charset="-122"/>
              </a:rPr>
              <a:t>文献</a:t>
            </a:r>
            <a:r>
              <a:rPr lang="zh-CN" altLang="en-US">
                <a:latin typeface="微软雅黑" panose="020B0503020204020204" charset="-122"/>
              </a:rPr>
              <a:t>证实台农芒果成熟过程中 </a:t>
            </a:r>
            <a:r>
              <a:rPr lang="en-US" altLang="zh-CN">
                <a:latin typeface="微软雅黑" panose="020B0503020204020204" charset="-122"/>
              </a:rPr>
              <a:t>α-</a:t>
            </a:r>
            <a:r>
              <a:rPr lang="zh-CN" altLang="en-US">
                <a:latin typeface="微软雅黑" panose="020B0503020204020204" charset="-122"/>
              </a:rPr>
              <a:t>淀粉酶相关基因表达上调</a:t>
            </a:r>
            <a:endParaRPr lang="zh-CN" altLang="en-US"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0" y="3566160"/>
            <a:ext cx="5669280" cy="165735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3657600"/>
            <a:ext cx="5303520" cy="173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[7] Sane et al. (2005); Chourasia et al. (2008).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Sane 2005: Postharvest Biol. Technol. 38(3): 223-230. DOI: 10.1016/j.postharvbio.2005.07.00</a:t>
            </a:r>
            <a:r>
              <a:rPr lang="en-US">
                <a:latin typeface="微软雅黑" panose="020B0503020204020204" charset="-122"/>
              </a:rPr>
              <a:t>3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Chourasia 2008: Plant Growth Regul. 56(2): 117-127. DOI: 10.1007/s10725-008-92</a:t>
            </a:r>
            <a:r>
              <a:rPr lang="en-US">
                <a:latin typeface="微软雅黑" panose="020B0503020204020204" charset="-122"/>
              </a:rPr>
              <a:t>64</a:t>
            </a:r>
            <a:r>
              <a:rPr>
                <a:latin typeface="微软雅黑" panose="020B0503020204020204" charset="-122"/>
              </a:rPr>
              <a:t>-</a:t>
            </a:r>
            <a:r>
              <a:rPr lang="en-US">
                <a:latin typeface="微软雅黑" panose="020B0503020204020204" charset="-122"/>
              </a:rPr>
              <a:t>4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引用：芒果成熟过程中外切PG、内切PG和内切β-1,4-葡聚糖酶活性上升而PE活性下降，这些酶协同介导芒果果实软化。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芒果中 PG/EGase↑、PE↓ 协同控制软化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3862705"/>
            <a:ext cx="5029200" cy="2538095"/>
          </a:xfrm>
          <a:prstGeom prst="roundRect">
            <a:avLst/>
          </a:prstGeom>
          <a:solidFill>
            <a:srgbClr val="E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4001134"/>
            <a:ext cx="4663440" cy="189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 sz="1300" b="1">
                <a:solidFill>
                  <a:srgbClr val="4A7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实验数据对应关系</a:t>
            </a:r>
            <a:endParaRPr sz="1300" b="1">
              <a:solidFill>
                <a:srgbClr val="4A7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淀粉水解 → 蔗糖合成 → TSS 上升</a:t>
            </a:r>
            <a:endParaRPr sz="11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 lang="en-US" altLang="zh-CN" sz="1000" b="0">
                <a:solidFill>
                  <a:srgbClr val="4A7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7D </a:t>
            </a:r>
            <a:r>
              <a:rPr lang="zh-CN" altLang="en-US" sz="1000" b="0">
                <a:solidFill>
                  <a:srgbClr val="4A7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染色变浅提示淀粉含量下降，水解速率变化仍需酶活或淀粉定量验证。</a:t>
            </a:r>
            <a:endParaRPr lang="zh-CN" altLang="en-US" sz="1000" b="0">
              <a:solidFill>
                <a:srgbClr val="4A7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起蔗糖急剧上升（19.9-30.7 vs CK 12.8 mg/g）</a:t>
            </a:r>
            <a:endParaRPr sz="1000" b="0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起TSS显著高（15.7-16.5 vs CK 12.6°Brix）</a:t>
            </a:r>
            <a:endParaRPr sz="1000" b="0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 vs TSS 回归 R² = 0.89（强正相关）</a:t>
            </a:r>
            <a:endParaRPr sz="10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9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TSS = 9.65 + 0.14 × 蔗糖</a:t>
            </a:r>
            <a:endParaRPr sz="11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文献 [6]-[7]：淀粉水解/细胞壁酶 → 蔗糖合成/软化  |  含台农芒果直接证据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058400" y="6510655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5280" y="255905"/>
            <a:ext cx="670560" cy="4768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相关文献依据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（3）：细胞壁降解 → 软化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029200" cy="2286000"/>
          </a:xfrm>
          <a:prstGeom prst="roundRect">
            <a:avLst/>
          </a:prstGeom>
          <a:solidFill>
            <a:srgbClr val="E8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663440" cy="1927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lang="zh-CN" sz="1300" b="1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推测</a:t>
            </a:r>
            <a:r>
              <a:rPr sz="1300" b="1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机制要点</a:t>
            </a:r>
            <a:endParaRPr sz="13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芒果软化由果胶降解 + 淀粉水解共同驱动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关键酶：PG, PE, CX (纤维素酶), β-GAL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乙烯 → ERF 转录因子 → MiPG 基因表达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果胶去酯化、解聚 → 细胞间隙增大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淀粉颗粒水解 → 细胞支撑减弱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1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综合：果肉软化、汁液渗出</a:t>
            </a:r>
            <a:endParaRPr sz="11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0" y="1188720"/>
            <a:ext cx="5669280" cy="2286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5303520" cy="169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[8] Dautt-Castro et al., 2019. Genome-Wide Identification of Mango Polygalacturonases. Front. Genet.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10.3389/fgene.2019.00834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引用：芒果PG基因启动子区域含多个成熟相关顺式调控元件，包括EIN3和乙烯响应因子结合位点。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MiPG 启动子含乙烯响应元件，乙烯调控 PG → 软化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0" y="3566160"/>
            <a:ext cx="5669280" cy="1697355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36576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[9] Li et al., 2022. 1-Methylcyclopropene counteracts ethylene promotion of fruit softening and roles of MiERF2/8 and MiPG in postharvest mangoes. Int. J. Mol. Sci. PMC9531572.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10.3390/ijms231911852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引用：PG、PE和CX是芒果果实成熟过程中细胞壁降解的关键酶。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PG/PE/CX 为细胞壁降解关键酶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5029200" cy="2743200"/>
          </a:xfrm>
          <a:prstGeom prst="roundRect">
            <a:avLst/>
          </a:prstGeom>
          <a:solidFill>
            <a:srgbClr val="F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4663440" cy="2371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3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实验数据对应关系</a:t>
            </a:r>
            <a:endParaRPr sz="13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乙烯 → 细胞壁酶 → 果胶降解 → 软化</a:t>
            </a:r>
            <a:endParaRPr sz="11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1D 起硬度即低于 CK（p&lt;0.05）</a:t>
            </a:r>
            <a:endParaRPr sz="1000" b="0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硬度极显著低（p&lt;0.001***）</a:t>
            </a:r>
            <a:endParaRPr sz="10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处理组 28-33N vs CK 46N</a:t>
            </a:r>
            <a:endParaRPr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9D 终态 16-17N vs CK 19N（-10~16%）</a:t>
            </a:r>
            <a:endParaRPr sz="1000" b="0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 vs 硬度回归 R² = 0.53（中等负相关）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9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硬度 = 81.15 - 0.81 × 蔗糖</a:t>
            </a:r>
            <a:endParaRPr sz="11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文献 [8]-[9]：乙烯 → PG/PE/CX↑ → 果胶降解 → 软化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057765" y="6465570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20040" y="255905"/>
            <a:ext cx="685800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1</a:t>
            </a:r>
            <a:r>
              <a:rPr lang="en-US">
                <a:latin typeface="微软雅黑" panose="020B0503020204020204" charset="-122"/>
              </a:rPr>
              <a:t>1</a:t>
            </a:r>
            <a:endParaRPr lang="en-US"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综合结论与实践建议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642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282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4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4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核心结论</a:t>
            </a:r>
            <a:endParaRPr sz="14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三种外源糖处理整体加速台农芒果采后成熟，核心推测机制：</a:t>
            </a:r>
            <a:endParaRPr sz="12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外源糖 → 糖信号 → 乙烯合成↑ → ①推测淀粉酶↑ → 淀粉水解 → SPS↑ → 蔗糖/TSS↑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5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→ ②推测PG/PE/CX↑ → 果胶/纤维素降解 → 硬度↓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  <a:defRPr sz="10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该推测链条与本实验观察到的 </a:t>
            </a:r>
            <a:r>
              <a:rPr lang="en-US" altLang="zh-CN"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TSS、</a:t>
            </a:r>
            <a:r>
              <a:rPr lang="zh-CN" altLang="en-US"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蔗糖含量、硬度和 </a:t>
            </a:r>
            <a:r>
              <a:rPr lang="en-US" altLang="zh-CN"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I₂-KI </a:t>
            </a:r>
            <a:r>
              <a:rPr lang="zh-CN" altLang="en-US"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染色变化一致，并获得相关文献支持</a:t>
            </a: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（Li 2016; Osorio 2020; Zaharah 2013; Ye 2009; Sane 2005; Chourasia 2008 </a:t>
            </a:r>
            <a:r>
              <a:rPr lang="en-US"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等）</a:t>
            </a:r>
            <a:r>
              <a:rPr lang="zh-CN" altLang="en-US"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；但关键酶活、乙烯释放量和基因表达仍需进一步验证。</a:t>
            </a: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「先抑后促」现象：0-3D 外源糖被呼吸优先消耗，抑制内源蔗糖合成；</a:t>
            </a:r>
            <a:endParaRPr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  <a:defRPr sz="1100" b="0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11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</a:t>
            </a:r>
            <a:r>
              <a:rPr lang="zh-CN" altLang="en-US" sz="11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起蔗糖含量与 </a:t>
            </a:r>
            <a:r>
              <a:rPr lang="en-US" altLang="zh-CN" sz="11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TSS </a:t>
            </a:r>
            <a:r>
              <a:rPr lang="zh-CN" altLang="en-US" sz="11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明显上升，提示糖代谢过程增强</a:t>
            </a:r>
            <a:r>
              <a:rPr sz="11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5D 为关键拐点</a:t>
            </a:r>
            <a:endParaRPr sz="1100" b="0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三种糖差异化：</a:t>
            </a:r>
            <a:r>
              <a:rPr lang="zh-CN" altLang="en-US"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蔗糖处理 9</a:t>
            </a:r>
            <a:r>
              <a:rPr lang="en-US" altLang="zh-CN"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</a:t>
            </a:r>
            <a:r>
              <a:rPr lang="zh-CN" altLang="en-US"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蔗糖含量最高，增糖效果最明显；果糖与葡萄糖处理在 5</a:t>
            </a:r>
            <a:r>
              <a:rPr lang="en-US" altLang="zh-CN"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</a:t>
            </a:r>
            <a:r>
              <a:rPr lang="zh-CN" altLang="en-US"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均表现出明显软化，二者硬度接近。</a:t>
            </a:r>
            <a:endParaRPr lang="zh-CN" altLang="en-US" sz="12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TSS 终态趋同 (~22°Brix)，说明糖处理加速而非拔高最终固形物水平</a:t>
            </a:r>
            <a:endParaRPr sz="12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4572000"/>
            <a:ext cx="5303520" cy="1828800"/>
          </a:xfrm>
          <a:prstGeom prst="roundRect">
            <a:avLst/>
          </a:prstGeom>
          <a:solidFill>
            <a:srgbClr val="E8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4937760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sz="1300" b="1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实践建议</a:t>
            </a:r>
            <a:endParaRPr sz="13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增糖目标 → 选蔗糖处理（蔗糖合成最强）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催软目标 → </a:t>
            </a:r>
            <a:r>
              <a:rPr lang="zh-CN" altLang="en-US"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果糖/葡萄糖处理均表现出较强促软化效应</a:t>
            </a:r>
            <a:endParaRPr lang="zh-CN" altLang="en-US"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后熟加速约 2 天达到相近成熟度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lang="zh-CN" altLang="en-US" sz="11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糖处理组较 </a:t>
            </a:r>
            <a:r>
              <a:rPr lang="en-US" altLang="zh-CN" sz="11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CK </a:t>
            </a:r>
            <a:r>
              <a:rPr lang="zh-CN" altLang="en-US" sz="11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更早表现出成熟相关指标变化；</a:t>
            </a:r>
            <a:endParaRPr lang="zh-CN" altLang="en-US" sz="11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lang="zh-CN" altLang="en-US" sz="11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具体后熟提前时间和最佳食用窗口需结合货架期评价进一步验证。</a:t>
            </a:r>
            <a:endParaRPr lang="zh-CN" altLang="en-US" sz="11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26480" y="4572000"/>
            <a:ext cx="5486400" cy="1828800"/>
          </a:xfrm>
          <a:prstGeom prst="round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0" y="4663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3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实验局限与展望</a:t>
            </a:r>
            <a:endParaRPr sz="13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n=3 偏小，边缘显著结果需扩大样本验证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未直接测酶活 (SPS/SS/PG/淀粉酶)，推测机制为文献推演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未测乙烯释放量，糖→乙烯通路需进一步验证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建议后续：酶活测定 + 转录组 + 乙烯监测</a:t>
            </a:r>
            <a:endParaRPr sz="10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057765" y="6492240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255905"/>
            <a:ext cx="593725" cy="5264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>
                <a:latin typeface="微软雅黑" panose="020B0503020204020204" charset="-122"/>
              </a:rPr>
              <a:t>12</a:t>
            </a:r>
            <a:endParaRPr lang="en-US"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参考文献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6880" y="914400"/>
            <a:ext cx="10972800" cy="58134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Li D, Mou W, Wang Y S, et al. Exogenous sucrose treatment accelerates postharvest tomato fruit ripening through the influence on its metabolism and enhancing ethylene biosynthesis and signaling. Acta Physiologiae Plantarum, 2016, 38 (8):1‑12.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DOI：10.1007/s11738‑016‑2240‑5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https://www.semanticscholar.org/paper/Exogenous-sucrose-treatment-accelerates-postharvest-Li-Mou/849cb2d1be2765b806703209d6c1c13dc08ce6a8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sucrose could modulate fruit metabolism, up‑regulate ethylene biosynthetic genes and participate in ethylene signal transduction during tomato fruit ripening.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[2] Osorio et al. (2020) Sugar Signaling During Fruit Ripening. Front. Plant Sci. 11:564917.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DOI：10.3389/fpls.2020.564917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https://www.frontiersin.org/articles/10.3389/fpls.2020.564917/full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sucrose metabolism represents a vital component of fruit development, participating in sucrose accumulation and regulating ripening‑related processes. Exogenous sucrose can also facilitate strawberry fruit ripening.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[3] Zaharah &amp; Singh (2013) Mode of action of abscisic acid in triggering ethylene biosynthesis and softening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during ripening in mango fruit. Postharvest Biol. Technol. 75: 37‑44.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DOI：10.1016/j.postharvbio.2012.07.006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https://www.sciencedirect.com/science/article/pii/S0925521412001876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ABA promoted ethylene biosynthesis by increasing the activities of ACS and ACO, meanwhile accelerating fruit softening accompanied by enhanced endo‑polygalacturonase activity.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[4] Ye et al. (2009) </a:t>
            </a: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芒果采后增甜试验初步研究。安徽农业科学，2009 (2): 817‑818.</a:t>
            </a:r>
            <a:endParaRPr lang="zh-CN" altLang="en-US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DOI: 10.13989/j.cnki.0517-6611.2009.02.097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kns.cnki.net/kcms2/article/abstract?v=t3MtpNTmDuxVmLw5Yn5oSKRIE0yIvgZNeePobRfBw8yhgjCz8f27hjTPxm5skvgf-bdKqaJduTUe3Hac9NSxKL4pCpqzi-3i0OlmKIm1kOQs7UnjGiGga9PpXMPE2iyIvkccKakifKBKwcRtG5tYD89to9m3W7bvPZw_9VKppxWf1ZzY1QPHoU2uJgatZ7jmdKvfFtIxpp0=&amp;uniplatform=NZKPT&amp;language=CHS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sucrose‑based polymer treatment maintained relatively high SS activity, facilitated sucrose accumulation, and increased the content of soluble solids and total sugars in postharvest fruits.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[5] Yang et al. Sucrose Metabolism and Changes of Relative Enzymes in Mangifera indica L. 'Irwin'.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ISHS Acta Horticulturae 992.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DOI：10.17660/ActaHortic.2013.992.44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https://www.actahort.org/books/992/992_44.htm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postharvest stage is critical for sugar metabolism in ‘Irwin’ mango, and SPS exerts an important regulatory function in this process.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[6] Li et al. (2023) Research Progress on Mango Post‑Harvest Ripening Physiology. Foods. PMC9818659.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DOI：10.3390/foods12020342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https://www.ncbi.nlm.nih.gov/pmc/articles/PMC9818659/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expression of two mango α‑amylase genes was markedly induced along with fruit ripening, and SPS was closely linked to the rapid sucrose accumulation in mango flesh (Tai Nong No.1).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057765" y="6490335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255905"/>
            <a:ext cx="701040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>
                <a:latin typeface="微软雅黑" panose="020B0503020204020204" charset="-122"/>
              </a:rPr>
              <a:t>13</a:t>
            </a:r>
            <a:endParaRPr lang="en-US"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参考文献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019175"/>
            <a:ext cx="10972800" cy="53028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[7] Sane V A, Chourasia A, Nath P (2005); Chourasia A, Sane V A, Singh R K, Nath P (2008). Softening‑related cell‑wall enzymes in ripening mango fruit. Postharvest Biol. Technol., 2005,38 (3):223‑230; Plant Growth Regulation, 2008,56 (2):117‑127.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Sane 2005 DOI：10.1016/j.postharvbio.2005.07.003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Sane 2005 </a:t>
            </a: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https://www.sciencedirect.com/science/article/pii/S0925521405001248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Chourasia 2008 DOI：10.1007/s10725-008-9264-4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Chourasia 2008 </a:t>
            </a: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https://www.semanticscholar.org/paper/Isolation-and-characterization-of-the-MiCel1-gene-Chourasia-Sane/f4e9da243d577b2d4fe14e17781848e98a57e2af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activities of exo‑PG, endo‑PG and endo‑1,4‑β‑D‑glucanase rise while PE activity declines, and these enzymes jointly mediate mango fruit softening.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[8] Dautt‑Castro et al. (2019) Genome‑Wide Identification of Mango Polygalacturonases. Front. Genet.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DOI：10.3389/fgene.2019.00834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https://www.frontiersin.org/articles/10.3389/fgene.2019.00834/full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PG gene promoter regions contain multiple ripening‑associated cis‑regulatory elements, including binding sites for EIN3 and ethylene‑responsive factors.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[9] Li et al. (2022) 1‑Methylcyclopropene counteracts ethylene promotion of fruit softening and roles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of MiERF2/8 and MiPG in postharvest mangoes. PMC9531572.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DOI：10.3390/ijms231911852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https://www.ncbi.nlm.nih.gov/pmc/articles/PMC9531572/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PG, PE and CX are key enzymes responsible for cell‑wall degradation during mango fruit ripening.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057765" y="6490970"/>
            <a:ext cx="2133600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11289</Words>
  <Application>WPS 演示</Application>
  <PresentationFormat>On-screen Show (4:3)</PresentationFormat>
  <Paragraphs>714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仗义桃</cp:lastModifiedBy>
  <cp:revision>54</cp:revision>
  <dcterms:created xsi:type="dcterms:W3CDTF">2026-08-10T14:12:00Z</dcterms:created>
  <dcterms:modified xsi:type="dcterms:W3CDTF">2026-08-11T17:57:34Z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5B80666CD9F24C5CBEFA131D4C6C09BE_13</vt:lpwstr>
  </property>
  <property fmtid="{D5CDD505-2E9C-101B-9397-08002B2CF9AE}" pid="3" name="KSOProductBuildVer">
    <vt:lpwstr>2052-12.1.0.28043</vt:lpwstr>
  </property>
</Properties>
</file>